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6" r:id="rId9"/>
    <p:sldId id="263" r:id="rId10"/>
    <p:sldId id="264" r:id="rId11"/>
    <p:sldId id="265" r:id="rId12"/>
    <p:sldId id="266" r:id="rId13"/>
    <p:sldId id="267" r:id="rId14"/>
    <p:sldId id="277" r:id="rId15"/>
    <p:sldId id="278" r:id="rId16"/>
    <p:sldId id="268" r:id="rId17"/>
    <p:sldId id="269" r:id="rId18"/>
    <p:sldId id="270" r:id="rId19"/>
    <p:sldId id="271" r:id="rId20"/>
    <p:sldId id="272" r:id="rId21"/>
    <p:sldId id="273" r:id="rId22"/>
    <p:sldId id="274" r:id="rId23"/>
    <p:sldId id="275"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7/18/2020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7/18/2020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7/18/2020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7/18/2020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7/18/2020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7/18/2020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7/18/2020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What is Artificial Intelligence?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algn="just"/>
            <a:r>
              <a:rPr lang="en-US" dirty="0" smtClean="0"/>
              <a:t>Artificial Intelligence(AI) is the study of how to make computers do things which </a:t>
            </a:r>
            <a:r>
              <a:rPr lang="en-US" dirty="0" smtClean="0">
                <a:solidFill>
                  <a:srgbClr val="FF0000"/>
                </a:solidFill>
              </a:rPr>
              <a:t>at the moment</a:t>
            </a:r>
            <a:r>
              <a:rPr lang="en-US" dirty="0" smtClean="0"/>
              <a:t> people do better. </a:t>
            </a:r>
          </a:p>
          <a:p>
            <a:pPr algn="just"/>
            <a:r>
              <a:rPr lang="en-US" dirty="0" smtClean="0"/>
              <a:t>Definition is restrictive since it does not include problems that cannot be solved well  by either computers or people. </a:t>
            </a:r>
          </a:p>
          <a:p>
            <a:pPr algn="just"/>
            <a:r>
              <a:rPr lang="en-US" dirty="0" smtClean="0"/>
              <a:t>It initially </a:t>
            </a:r>
            <a:r>
              <a:rPr lang="en-US" dirty="0" smtClean="0">
                <a:solidFill>
                  <a:srgbClr val="FF0000"/>
                </a:solidFill>
              </a:rPr>
              <a:t>appeared</a:t>
            </a:r>
            <a:r>
              <a:rPr lang="en-US" dirty="0" smtClean="0"/>
              <a:t> computers could do most of the tasks better than people by exploring all the solutions faster. </a:t>
            </a:r>
          </a:p>
          <a:p>
            <a:pPr algn="just"/>
            <a:r>
              <a:rPr lang="en-US" dirty="0" smtClean="0"/>
              <a:t>Combinatorial explosion ignored. </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Task Domain of AI</a:t>
            </a:r>
            <a:endParaRPr lang="en-US" dirty="0"/>
          </a:p>
        </p:txBody>
      </p:sp>
      <p:sp>
        <p:nvSpPr>
          <p:cNvPr id="3" name="Content Placeholder 2"/>
          <p:cNvSpPr>
            <a:spLocks noGrp="1"/>
          </p:cNvSpPr>
          <p:nvPr>
            <p:ph idx="1"/>
          </p:nvPr>
        </p:nvSpPr>
        <p:spPr>
          <a:xfrm>
            <a:off x="457200" y="1219200"/>
            <a:ext cx="8229600" cy="4906963"/>
          </a:xfrm>
        </p:spPr>
        <p:txBody>
          <a:bodyPr>
            <a:normAutofit fontScale="77500" lnSpcReduction="20000"/>
          </a:bodyPr>
          <a:lstStyle/>
          <a:p>
            <a:pPr algn="ctr">
              <a:buNone/>
            </a:pPr>
            <a:r>
              <a:rPr lang="en-US" sz="3600" dirty="0" smtClean="0"/>
              <a:t>Mundane Tasks</a:t>
            </a:r>
          </a:p>
          <a:p>
            <a:r>
              <a:rPr lang="en-US" sz="3600" dirty="0" smtClean="0"/>
              <a:t>Perception</a:t>
            </a:r>
          </a:p>
          <a:p>
            <a:pPr>
              <a:buNone/>
            </a:pPr>
            <a:r>
              <a:rPr lang="en-US" sz="3600" dirty="0" smtClean="0"/>
              <a:t>-Vision</a:t>
            </a:r>
          </a:p>
          <a:p>
            <a:pPr>
              <a:buNone/>
            </a:pPr>
            <a:r>
              <a:rPr lang="en-US" sz="3600" dirty="0" smtClean="0"/>
              <a:t>-Speech</a:t>
            </a:r>
          </a:p>
          <a:p>
            <a:r>
              <a:rPr lang="en-US" sz="3600" dirty="0" smtClean="0"/>
              <a:t>Natural Language</a:t>
            </a:r>
          </a:p>
          <a:p>
            <a:pPr>
              <a:buNone/>
            </a:pPr>
            <a:r>
              <a:rPr lang="en-US" sz="3600" dirty="0" smtClean="0"/>
              <a:t>-Understanding</a:t>
            </a:r>
          </a:p>
          <a:p>
            <a:pPr>
              <a:buNone/>
            </a:pPr>
            <a:r>
              <a:rPr lang="en-US" sz="3600" dirty="0" smtClean="0"/>
              <a:t>-Generation</a:t>
            </a:r>
          </a:p>
          <a:p>
            <a:pPr>
              <a:buNone/>
            </a:pPr>
            <a:r>
              <a:rPr lang="en-US" sz="3600" dirty="0" smtClean="0"/>
              <a:t>-Translation</a:t>
            </a:r>
          </a:p>
          <a:p>
            <a:r>
              <a:rPr lang="en-US" sz="3600" dirty="0" smtClean="0"/>
              <a:t>Common Sense reasoning (General Problem Solver)</a:t>
            </a:r>
          </a:p>
          <a:p>
            <a:r>
              <a:rPr lang="en-US" sz="3600" dirty="0" smtClean="0"/>
              <a:t>Robot control</a:t>
            </a:r>
          </a:p>
          <a:p>
            <a:pPr>
              <a:buNone/>
            </a:pPr>
            <a:r>
              <a:rPr lang="en-US" dirty="0" smtClean="0"/>
              <a:t>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a:bodyPr>
          <a:lstStyle/>
          <a:p>
            <a:pPr algn="ctr">
              <a:buNone/>
            </a:pPr>
            <a:r>
              <a:rPr lang="en-US" dirty="0" smtClean="0"/>
              <a:t>Formal Tasks</a:t>
            </a:r>
          </a:p>
          <a:p>
            <a:r>
              <a:rPr lang="en-US" dirty="0" smtClean="0"/>
              <a:t>Games</a:t>
            </a:r>
          </a:p>
          <a:p>
            <a:pPr>
              <a:buNone/>
            </a:pPr>
            <a:r>
              <a:rPr lang="en-US" dirty="0" smtClean="0"/>
              <a:t>-Chess</a:t>
            </a:r>
          </a:p>
          <a:p>
            <a:pPr>
              <a:buNone/>
            </a:pPr>
            <a:r>
              <a:rPr lang="en-US" dirty="0" smtClean="0"/>
              <a:t>-Checkers</a:t>
            </a:r>
          </a:p>
          <a:p>
            <a:pPr>
              <a:buNone/>
            </a:pPr>
            <a:r>
              <a:rPr lang="en-US" dirty="0" smtClean="0"/>
              <a:t>-Tic-tac-toe</a:t>
            </a:r>
          </a:p>
          <a:p>
            <a:r>
              <a:rPr lang="en-US" dirty="0" smtClean="0"/>
              <a:t>Mathematics</a:t>
            </a:r>
          </a:p>
          <a:p>
            <a:pPr>
              <a:buNone/>
            </a:pPr>
            <a:r>
              <a:rPr lang="en-US" dirty="0" smtClean="0"/>
              <a:t>-Geometry</a:t>
            </a:r>
          </a:p>
          <a:p>
            <a:pPr>
              <a:buNone/>
            </a:pPr>
            <a:r>
              <a:rPr lang="en-US" dirty="0" smtClean="0"/>
              <a:t>-Logic</a:t>
            </a:r>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pPr algn="ctr">
              <a:buNone/>
            </a:pPr>
            <a:r>
              <a:rPr lang="en-US" dirty="0" smtClean="0"/>
              <a:t>Expert Tasks</a:t>
            </a:r>
          </a:p>
          <a:p>
            <a:r>
              <a:rPr lang="en-US" dirty="0" smtClean="0"/>
              <a:t>Engineering</a:t>
            </a:r>
          </a:p>
          <a:p>
            <a:pPr>
              <a:buNone/>
            </a:pPr>
            <a:r>
              <a:rPr lang="en-US" dirty="0" smtClean="0"/>
              <a:t>-Design</a:t>
            </a:r>
          </a:p>
          <a:p>
            <a:pPr>
              <a:buNone/>
            </a:pPr>
            <a:r>
              <a:rPr lang="en-US" dirty="0" smtClean="0"/>
              <a:t>-Fault Finding</a:t>
            </a:r>
          </a:p>
          <a:p>
            <a:pPr>
              <a:buNone/>
            </a:pPr>
            <a:r>
              <a:rPr lang="en-US" dirty="0" smtClean="0"/>
              <a:t>-Manufacturing planning</a:t>
            </a:r>
          </a:p>
          <a:p>
            <a:r>
              <a:rPr lang="en-US" dirty="0" smtClean="0"/>
              <a:t>Scientific Analysis</a:t>
            </a:r>
          </a:p>
          <a:p>
            <a:r>
              <a:rPr lang="en-US" dirty="0" smtClean="0"/>
              <a:t>Medical Diagnosis</a:t>
            </a:r>
          </a:p>
          <a:p>
            <a:r>
              <a:rPr lang="en-US" dirty="0" smtClean="0"/>
              <a:t>Financial Analysis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Areas to be addressed </a:t>
            </a:r>
            <a:endParaRPr lang="en-US" dirty="0"/>
          </a:p>
        </p:txBody>
      </p:sp>
      <p:sp>
        <p:nvSpPr>
          <p:cNvPr id="3" name="Content Placeholder 2"/>
          <p:cNvSpPr>
            <a:spLocks noGrp="1"/>
          </p:cNvSpPr>
          <p:nvPr>
            <p:ph idx="1"/>
          </p:nvPr>
        </p:nvSpPr>
        <p:spPr>
          <a:xfrm>
            <a:off x="457200" y="1600200"/>
            <a:ext cx="8305800" cy="4525963"/>
          </a:xfrm>
        </p:spPr>
        <p:txBody>
          <a:bodyPr/>
          <a:lstStyle/>
          <a:p>
            <a:pPr algn="just"/>
            <a:r>
              <a:rPr lang="en-US" dirty="0" smtClean="0"/>
              <a:t>Underlying assumptions about intelligence.</a:t>
            </a:r>
          </a:p>
          <a:p>
            <a:pPr algn="just"/>
            <a:r>
              <a:rPr lang="en-US" dirty="0" smtClean="0"/>
              <a:t>Techniques used for solving AI problems.</a:t>
            </a:r>
          </a:p>
          <a:p>
            <a:pPr algn="just"/>
            <a:r>
              <a:rPr lang="en-US" dirty="0" smtClean="0"/>
              <a:t>Level of details used in modeling human intelligence.</a:t>
            </a:r>
          </a:p>
          <a:p>
            <a:pPr algn="just"/>
            <a:r>
              <a:rPr lang="en-US" dirty="0" smtClean="0"/>
              <a:t>Characteristics of a intelligent system / program.</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The underlying Assumption</a:t>
            </a:r>
            <a:endParaRPr lang="en-US" dirty="0"/>
          </a:p>
        </p:txBody>
      </p:sp>
      <p:sp>
        <p:nvSpPr>
          <p:cNvPr id="3" name="Content Placeholder 2"/>
          <p:cNvSpPr>
            <a:spLocks noGrp="1"/>
          </p:cNvSpPr>
          <p:nvPr>
            <p:ph idx="1"/>
          </p:nvPr>
        </p:nvSpPr>
        <p:spPr>
          <a:xfrm>
            <a:off x="457200" y="1295400"/>
            <a:ext cx="8229600" cy="5181600"/>
          </a:xfrm>
        </p:spPr>
        <p:txBody>
          <a:bodyPr/>
          <a:lstStyle/>
          <a:p>
            <a:pPr algn="just"/>
            <a:r>
              <a:rPr lang="en-US" dirty="0" smtClean="0"/>
              <a:t>A physical symbol system consists of a set of entities (symbols) are physical patterns that occur as components of another entity called expression (or symbol structure).</a:t>
            </a:r>
          </a:p>
          <a:p>
            <a:pPr algn="just">
              <a:buNone/>
            </a:pPr>
            <a:endParaRPr lang="en-US"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pPr algn="just"/>
            <a:r>
              <a:rPr lang="en-US" dirty="0" smtClean="0"/>
              <a:t> At any instant of time the system will contain a collection of symbol structure.</a:t>
            </a:r>
          </a:p>
          <a:p>
            <a:pPr algn="just"/>
            <a:r>
              <a:rPr lang="en-US" dirty="0" smtClean="0"/>
              <a:t>Along with this, the system also contains a collection of process that operate on expressions to produce other expressions: creation, modification, destruction etc</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0"/>
            <a:ext cx="8229600" cy="4830763"/>
          </a:xfrm>
        </p:spPr>
        <p:txBody>
          <a:bodyPr>
            <a:normAutofit/>
          </a:bodyPr>
          <a:lstStyle/>
          <a:p>
            <a:pPr algn="just"/>
            <a:r>
              <a:rPr lang="en-US" dirty="0" smtClean="0"/>
              <a:t>A physical symbol system is a machine that produces through time an evolving collection of symbol structures.</a:t>
            </a:r>
          </a:p>
          <a:p>
            <a:pPr algn="just"/>
            <a:r>
              <a:rPr lang="en-US" dirty="0" smtClean="0"/>
              <a:t>The Physical Symbol System Hypothesis: A physical symbol system has the necessary and sufficient means for general intelligent action.</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AI Technique</a:t>
            </a:r>
            <a:endParaRPr lang="en-US" dirty="0"/>
          </a:p>
        </p:txBody>
      </p:sp>
      <p:sp>
        <p:nvSpPr>
          <p:cNvPr id="3" name="Content Placeholder 2"/>
          <p:cNvSpPr>
            <a:spLocks noGrp="1"/>
          </p:cNvSpPr>
          <p:nvPr>
            <p:ph idx="1"/>
          </p:nvPr>
        </p:nvSpPr>
        <p:spPr/>
        <p:txBody>
          <a:bodyPr>
            <a:normAutofit/>
          </a:bodyPr>
          <a:lstStyle/>
          <a:p>
            <a:r>
              <a:rPr lang="en-US" dirty="0" smtClean="0"/>
              <a:t>Intelligence requires knowledge. Knowledge has the following properties:</a:t>
            </a:r>
          </a:p>
          <a:p>
            <a:pPr>
              <a:buNone/>
            </a:pPr>
            <a:r>
              <a:rPr lang="en-US" dirty="0" smtClean="0"/>
              <a:t>        -Voluminous.</a:t>
            </a:r>
          </a:p>
          <a:p>
            <a:pPr>
              <a:buNone/>
            </a:pPr>
            <a:r>
              <a:rPr lang="en-US" dirty="0" smtClean="0"/>
              <a:t>        - Hard to characterize accurately.</a:t>
            </a:r>
          </a:p>
          <a:p>
            <a:pPr>
              <a:buNone/>
            </a:pPr>
            <a:r>
              <a:rPr lang="en-US" dirty="0" smtClean="0"/>
              <a:t>        - Constantly changing.</a:t>
            </a:r>
          </a:p>
          <a:p>
            <a:r>
              <a:rPr lang="en-US" dirty="0" smtClean="0"/>
              <a:t>For using AI techniques knowledge should be represented in the following manner:</a:t>
            </a:r>
          </a:p>
          <a:p>
            <a:pPr>
              <a:buNone/>
            </a:pPr>
            <a:r>
              <a:rPr lang="en-US" dirty="0" smtClean="0"/>
              <a:t>    </a:t>
            </a: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90600"/>
            <a:ext cx="8229600" cy="5135563"/>
          </a:xfrm>
        </p:spPr>
        <p:txBody>
          <a:bodyPr/>
          <a:lstStyle/>
          <a:p>
            <a:pPr>
              <a:buNone/>
            </a:pPr>
            <a:r>
              <a:rPr lang="en-US" dirty="0" smtClean="0"/>
              <a:t>       - The knowledge captures generalization.</a:t>
            </a:r>
          </a:p>
          <a:p>
            <a:pPr>
              <a:buNone/>
            </a:pPr>
            <a:r>
              <a:rPr lang="en-US" dirty="0" smtClean="0"/>
              <a:t>       - It can be understood by people who must    </a:t>
            </a:r>
          </a:p>
          <a:p>
            <a:pPr>
              <a:buNone/>
            </a:pPr>
            <a:r>
              <a:rPr lang="en-US" dirty="0" smtClean="0"/>
              <a:t>          provide it (Ex: reading of instruments).</a:t>
            </a:r>
          </a:p>
          <a:p>
            <a:pPr>
              <a:buNone/>
            </a:pPr>
            <a:r>
              <a:rPr lang="en-US" dirty="0" smtClean="0"/>
              <a:t>        - It can be modified to correct errors to </a:t>
            </a:r>
          </a:p>
          <a:p>
            <a:pPr>
              <a:buNone/>
            </a:pPr>
            <a:r>
              <a:rPr lang="en-US" dirty="0" smtClean="0"/>
              <a:t>           reflect changes in real world.</a:t>
            </a:r>
          </a:p>
          <a:p>
            <a:pPr>
              <a:buNone/>
            </a:pPr>
            <a:r>
              <a:rPr lang="en-US" dirty="0" smtClean="0"/>
              <a:t>         - It can be used in great many situation </a:t>
            </a:r>
          </a:p>
          <a:p>
            <a:pPr>
              <a:buNone/>
            </a:pPr>
            <a:r>
              <a:rPr lang="en-US" dirty="0" smtClean="0"/>
              <a:t>            although it is not accurate or complete.</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lstStyle/>
          <a:p>
            <a:r>
              <a:rPr lang="en-US" dirty="0" smtClean="0"/>
              <a:t>Tic-</a:t>
            </a:r>
            <a:r>
              <a:rPr lang="en-US" dirty="0" err="1" smtClean="0"/>
              <a:t>Tac</a:t>
            </a:r>
            <a:r>
              <a:rPr lang="en-US" dirty="0" smtClean="0"/>
              <a:t>-Toe(Program 1)</a:t>
            </a:r>
            <a:endParaRPr lang="en-US" dirty="0"/>
          </a:p>
        </p:txBody>
      </p:sp>
      <p:sp>
        <p:nvSpPr>
          <p:cNvPr id="3" name="Content Placeholder 2"/>
          <p:cNvSpPr>
            <a:spLocks noGrp="1"/>
          </p:cNvSpPr>
          <p:nvPr>
            <p:ph idx="1"/>
          </p:nvPr>
        </p:nvSpPr>
        <p:spPr>
          <a:xfrm>
            <a:off x="457200" y="1219200"/>
            <a:ext cx="8229600" cy="5105400"/>
          </a:xfrm>
        </p:spPr>
        <p:txBody>
          <a:bodyPr>
            <a:normAutofit lnSpcReduction="10000"/>
          </a:bodyPr>
          <a:lstStyle/>
          <a:p>
            <a:pPr algn="ctr">
              <a:buNone/>
            </a:pPr>
            <a:r>
              <a:rPr lang="en-US" sz="2800" b="1" dirty="0" smtClean="0"/>
              <a:t>Data Structures</a:t>
            </a:r>
          </a:p>
          <a:p>
            <a:pPr algn="just">
              <a:buNone/>
            </a:pPr>
            <a:r>
              <a:rPr lang="en-US" sz="2800" dirty="0" smtClean="0"/>
              <a:t>Board: A nine element vector representing the board</a:t>
            </a:r>
          </a:p>
          <a:p>
            <a:pPr algn="just">
              <a:buNone/>
            </a:pPr>
            <a:endParaRPr lang="en-US" sz="2800" dirty="0" smtClean="0"/>
          </a:p>
          <a:p>
            <a:pPr algn="just">
              <a:buNone/>
            </a:pPr>
            <a:endParaRPr lang="en-US" sz="2800" dirty="0" smtClean="0"/>
          </a:p>
          <a:p>
            <a:pPr algn="just">
              <a:buNone/>
            </a:pPr>
            <a:endParaRPr lang="en-US" sz="2800" dirty="0" smtClean="0"/>
          </a:p>
          <a:p>
            <a:pPr algn="just">
              <a:buNone/>
            </a:pPr>
            <a:r>
              <a:rPr lang="en-US" sz="2800" dirty="0" smtClean="0"/>
              <a:t>An element contains 0 if the square is blank, 1 if it is filled with X, 2 if it is filled with O.</a:t>
            </a:r>
          </a:p>
          <a:p>
            <a:pPr algn="just">
              <a:buNone/>
            </a:pPr>
            <a:r>
              <a:rPr lang="en-US" sz="2800" dirty="0" err="1" smtClean="0"/>
              <a:t>Movetable</a:t>
            </a:r>
            <a:r>
              <a:rPr lang="en-US" sz="2800" dirty="0" smtClean="0"/>
              <a:t>: A large vector of 3</a:t>
            </a:r>
            <a:r>
              <a:rPr lang="en-US" sz="2800" baseline="30000" dirty="0" smtClean="0"/>
              <a:t>9</a:t>
            </a:r>
            <a:r>
              <a:rPr lang="en-US" sz="2800" dirty="0" smtClean="0"/>
              <a:t> elements, each of which is a 9 element vector. The contents of the vector are chosen specifically to allow the algorithm to work.</a:t>
            </a:r>
            <a:endParaRPr lang="en-US" sz="2800" dirty="0"/>
          </a:p>
        </p:txBody>
      </p:sp>
      <p:graphicFrame>
        <p:nvGraphicFramePr>
          <p:cNvPr id="4" name="Table 3"/>
          <p:cNvGraphicFramePr>
            <a:graphicFrameLocks noGrp="1"/>
          </p:cNvGraphicFramePr>
          <p:nvPr/>
        </p:nvGraphicFramePr>
        <p:xfrm>
          <a:off x="3429000" y="2286000"/>
          <a:ext cx="1600200" cy="1097280"/>
        </p:xfrm>
        <a:graphic>
          <a:graphicData uri="http://schemas.openxmlformats.org/drawingml/2006/table">
            <a:tbl>
              <a:tblPr firstRow="1" bandRow="1">
                <a:tableStyleId>{5C22544A-7EE6-4342-B048-85BDC9FD1C3A}</a:tableStyleId>
              </a:tblPr>
              <a:tblGrid>
                <a:gridCol w="533400"/>
                <a:gridCol w="533400"/>
                <a:gridCol w="533400"/>
              </a:tblGrid>
              <a:tr h="355600">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r>
              <a:tr h="355600">
                <a:tc>
                  <a:txBody>
                    <a:bodyPr/>
                    <a:lstStyle/>
                    <a:p>
                      <a:pPr algn="ctr"/>
                      <a:r>
                        <a:rPr lang="en-US" dirty="0" smtClean="0"/>
                        <a:t>4</a:t>
                      </a:r>
                      <a:endParaRPr lang="en-US" dirty="0"/>
                    </a:p>
                  </a:txBody>
                  <a:tcPr/>
                </a:tc>
                <a:tc>
                  <a:txBody>
                    <a:bodyPr/>
                    <a:lstStyle/>
                    <a:p>
                      <a:pPr algn="ctr"/>
                      <a:r>
                        <a:rPr lang="en-US" dirty="0" smtClean="0"/>
                        <a:t>5</a:t>
                      </a:r>
                      <a:endParaRPr lang="en-US" dirty="0"/>
                    </a:p>
                  </a:txBody>
                  <a:tcPr/>
                </a:tc>
                <a:tc>
                  <a:txBody>
                    <a:bodyPr/>
                    <a:lstStyle/>
                    <a:p>
                      <a:pPr algn="ctr"/>
                      <a:r>
                        <a:rPr lang="en-US" dirty="0" smtClean="0"/>
                        <a:t>6</a:t>
                      </a:r>
                      <a:endParaRPr lang="en-US" dirty="0"/>
                    </a:p>
                  </a:txBody>
                  <a:tcPr/>
                </a:tc>
              </a:tr>
              <a:tr h="355600">
                <a:tc>
                  <a:txBody>
                    <a:bodyPr/>
                    <a:lstStyle/>
                    <a:p>
                      <a:pPr algn="ctr"/>
                      <a:r>
                        <a:rPr lang="en-US" dirty="0" smtClean="0"/>
                        <a:t>7</a:t>
                      </a:r>
                      <a:endParaRPr lang="en-US" dirty="0"/>
                    </a:p>
                  </a:txBody>
                  <a:tcPr/>
                </a:tc>
                <a:tc>
                  <a:txBody>
                    <a:bodyPr/>
                    <a:lstStyle/>
                    <a:p>
                      <a:pPr algn="ctr"/>
                      <a:r>
                        <a:rPr lang="en-US" dirty="0" smtClean="0"/>
                        <a:t>8</a:t>
                      </a:r>
                      <a:endParaRPr lang="en-US" dirty="0"/>
                    </a:p>
                  </a:txBody>
                  <a:tcPr/>
                </a:tc>
                <a:tc>
                  <a:txBody>
                    <a:bodyPr/>
                    <a:lstStyle/>
                    <a:p>
                      <a:pPr algn="ctr"/>
                      <a:r>
                        <a:rPr lang="en-US" dirty="0" smtClean="0"/>
                        <a:t>9</a:t>
                      </a:r>
                      <a:endParaRPr lang="en-US" dirty="0"/>
                    </a:p>
                  </a:txBody>
                  <a:tcPr/>
                </a:tc>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normAutofit lnSpcReduction="10000"/>
          </a:bodyPr>
          <a:lstStyle/>
          <a:p>
            <a:pPr algn="just">
              <a:buNone/>
            </a:pPr>
            <a:r>
              <a:rPr lang="en-US" b="1" dirty="0" smtClean="0"/>
              <a:t>The Algorithm</a:t>
            </a:r>
          </a:p>
          <a:p>
            <a:pPr algn="just">
              <a:buNone/>
            </a:pPr>
            <a:r>
              <a:rPr lang="en-US" dirty="0" smtClean="0"/>
              <a:t>To make a move, do the following:</a:t>
            </a:r>
          </a:p>
          <a:p>
            <a:pPr marL="514350" indent="-514350" algn="just">
              <a:buAutoNum type="arabicPeriod"/>
            </a:pPr>
            <a:r>
              <a:rPr lang="en-US" dirty="0" smtClean="0"/>
              <a:t>View the vector board as ternary number. Convert it to decimal number.</a:t>
            </a:r>
          </a:p>
          <a:p>
            <a:pPr marL="514350" indent="-514350" algn="just">
              <a:buAutoNum type="arabicPeriod"/>
            </a:pPr>
            <a:r>
              <a:rPr lang="en-US" dirty="0" smtClean="0"/>
              <a:t>Use the number computed in step 1 as an index into </a:t>
            </a:r>
            <a:r>
              <a:rPr lang="en-US" dirty="0" err="1" smtClean="0"/>
              <a:t>Movetable</a:t>
            </a:r>
            <a:r>
              <a:rPr lang="en-US" dirty="0" smtClean="0"/>
              <a:t> and access the vector stored there.</a:t>
            </a:r>
          </a:p>
          <a:p>
            <a:pPr marL="514350" indent="-514350" algn="just">
              <a:buAutoNum type="arabicPeriod"/>
            </a:pPr>
            <a:r>
              <a:rPr lang="en-US" dirty="0" smtClean="0"/>
              <a:t>The vector selected in step 2 represents the way the board will look after the move has been made. So set Board equal to that vector.</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a:xfrm>
            <a:off x="457200" y="1371600"/>
            <a:ext cx="8229600" cy="4754563"/>
          </a:xfrm>
        </p:spPr>
        <p:txBody>
          <a:bodyPr/>
          <a:lstStyle/>
          <a:p>
            <a:r>
              <a:rPr lang="en-US" dirty="0" smtClean="0"/>
              <a:t>Suppose the current position is:</a:t>
            </a:r>
          </a:p>
          <a:p>
            <a:endParaRPr lang="en-US" dirty="0" smtClean="0"/>
          </a:p>
          <a:p>
            <a:endParaRPr lang="en-US" dirty="0" smtClean="0"/>
          </a:p>
          <a:p>
            <a:endParaRPr lang="en-US" dirty="0" smtClean="0"/>
          </a:p>
          <a:p>
            <a:r>
              <a:rPr lang="en-US" dirty="0" smtClean="0"/>
              <a:t>This is represented as (012001002)</a:t>
            </a:r>
            <a:r>
              <a:rPr lang="en-US" baseline="-25000" dirty="0" smtClean="0"/>
              <a:t>3</a:t>
            </a:r>
            <a:r>
              <a:rPr lang="en-US" dirty="0" smtClean="0"/>
              <a:t> .</a:t>
            </a:r>
          </a:p>
          <a:p>
            <a:r>
              <a:rPr lang="en-US" dirty="0" smtClean="0"/>
              <a:t>It is then converted into decimal number.</a:t>
            </a:r>
          </a:p>
          <a:p>
            <a:r>
              <a:rPr lang="en-US" dirty="0" smtClean="0"/>
              <a:t>That decimal number will be </a:t>
            </a:r>
            <a:r>
              <a:rPr lang="en-US" smtClean="0"/>
              <a:t>the index of </a:t>
            </a:r>
            <a:r>
              <a:rPr lang="en-US" dirty="0" smtClean="0"/>
              <a:t>the next board position. </a:t>
            </a:r>
          </a:p>
          <a:p>
            <a:pPr>
              <a:buNone/>
            </a:pPr>
            <a:endParaRPr lang="en-US" dirty="0" smtClean="0"/>
          </a:p>
          <a:p>
            <a:pPr>
              <a:buNone/>
            </a:pPr>
            <a:endParaRPr lang="en-US" dirty="0"/>
          </a:p>
        </p:txBody>
      </p:sp>
      <p:graphicFrame>
        <p:nvGraphicFramePr>
          <p:cNvPr id="4" name="Table 3"/>
          <p:cNvGraphicFramePr>
            <a:graphicFrameLocks noGrp="1"/>
          </p:cNvGraphicFramePr>
          <p:nvPr/>
        </p:nvGraphicFramePr>
        <p:xfrm>
          <a:off x="1295400" y="2209800"/>
          <a:ext cx="2438400" cy="1219200"/>
        </p:xfrm>
        <a:graphic>
          <a:graphicData uri="http://schemas.openxmlformats.org/drawingml/2006/table">
            <a:tbl>
              <a:tblPr firstRow="1" bandRow="1">
                <a:tableStyleId>{5C22544A-7EE6-4342-B048-85BDC9FD1C3A}</a:tableStyleId>
              </a:tblPr>
              <a:tblGrid>
                <a:gridCol w="812800"/>
                <a:gridCol w="812800"/>
                <a:gridCol w="812800"/>
              </a:tblGrid>
              <a:tr h="406400">
                <a:tc>
                  <a:txBody>
                    <a:bodyPr/>
                    <a:lstStyle/>
                    <a:p>
                      <a:r>
                        <a:rPr lang="en-US" dirty="0" smtClean="0"/>
                        <a:t>B</a:t>
                      </a:r>
                      <a:endParaRPr lang="en-US" dirty="0"/>
                    </a:p>
                  </a:txBody>
                  <a:tcPr/>
                </a:tc>
                <a:tc>
                  <a:txBody>
                    <a:bodyPr/>
                    <a:lstStyle/>
                    <a:p>
                      <a:r>
                        <a:rPr lang="en-US" dirty="0" smtClean="0"/>
                        <a:t>X</a:t>
                      </a:r>
                      <a:endParaRPr lang="en-US" dirty="0"/>
                    </a:p>
                  </a:txBody>
                  <a:tcPr/>
                </a:tc>
                <a:tc>
                  <a:txBody>
                    <a:bodyPr/>
                    <a:lstStyle/>
                    <a:p>
                      <a:r>
                        <a:rPr lang="en-US" dirty="0" smtClean="0"/>
                        <a:t>O</a:t>
                      </a:r>
                      <a:endParaRPr lang="en-US" dirty="0"/>
                    </a:p>
                  </a:txBody>
                  <a:tcPr/>
                </a:tc>
              </a:tr>
              <a:tr h="406400">
                <a:tc>
                  <a:txBody>
                    <a:bodyPr/>
                    <a:lstStyle/>
                    <a:p>
                      <a:r>
                        <a:rPr lang="en-US" dirty="0" smtClean="0"/>
                        <a:t>B</a:t>
                      </a:r>
                      <a:endParaRPr lang="en-US" dirty="0"/>
                    </a:p>
                  </a:txBody>
                  <a:tcPr/>
                </a:tc>
                <a:tc>
                  <a:txBody>
                    <a:bodyPr/>
                    <a:lstStyle/>
                    <a:p>
                      <a:r>
                        <a:rPr lang="en-US" dirty="0" smtClean="0"/>
                        <a:t>B</a:t>
                      </a:r>
                      <a:endParaRPr lang="en-US" dirty="0"/>
                    </a:p>
                  </a:txBody>
                  <a:tcPr/>
                </a:tc>
                <a:tc>
                  <a:txBody>
                    <a:bodyPr/>
                    <a:lstStyle/>
                    <a:p>
                      <a:r>
                        <a:rPr lang="en-US" dirty="0" smtClean="0"/>
                        <a:t>X</a:t>
                      </a:r>
                      <a:endParaRPr lang="en-US" dirty="0"/>
                    </a:p>
                  </a:txBody>
                  <a:tcPr/>
                </a:tc>
              </a:tr>
              <a:tr h="406400">
                <a:tc>
                  <a:txBody>
                    <a:bodyPr/>
                    <a:lstStyle/>
                    <a:p>
                      <a:r>
                        <a:rPr lang="en-US" dirty="0" smtClean="0"/>
                        <a:t>B</a:t>
                      </a:r>
                      <a:endParaRPr lang="en-US" dirty="0"/>
                    </a:p>
                  </a:txBody>
                  <a:tcPr/>
                </a:tc>
                <a:tc>
                  <a:txBody>
                    <a:bodyPr/>
                    <a:lstStyle/>
                    <a:p>
                      <a:r>
                        <a:rPr lang="en-US" dirty="0" smtClean="0"/>
                        <a:t>B</a:t>
                      </a:r>
                      <a:endParaRPr lang="en-US" dirty="0"/>
                    </a:p>
                  </a:txBody>
                  <a:tcPr/>
                </a:tc>
                <a:tc>
                  <a:txBody>
                    <a:bodyPr/>
                    <a:lstStyle/>
                    <a:p>
                      <a:r>
                        <a:rPr lang="en-US" dirty="0" smtClean="0"/>
                        <a:t>O</a:t>
                      </a:r>
                      <a:endParaRPr lang="en-US" dirty="0"/>
                    </a:p>
                  </a:txBody>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nvPr>
        </p:nvGraphicFramePr>
        <p:xfrm>
          <a:off x="457200" y="762000"/>
          <a:ext cx="4267200" cy="4546600"/>
        </p:xfrm>
        <a:graphic>
          <a:graphicData uri="http://schemas.openxmlformats.org/drawingml/2006/table">
            <a:tbl>
              <a:tblPr firstRow="1" bandRow="1">
                <a:tableStyleId>{5C22544A-7EE6-4342-B048-85BDC9FD1C3A}</a:tableStyleId>
              </a:tblPr>
              <a:tblGrid>
                <a:gridCol w="1676400"/>
                <a:gridCol w="2590800"/>
              </a:tblGrid>
              <a:tr h="454660">
                <a:tc>
                  <a:txBody>
                    <a:bodyPr/>
                    <a:lstStyle/>
                    <a:p>
                      <a:r>
                        <a:rPr lang="en-US" dirty="0" smtClean="0"/>
                        <a:t>Index</a:t>
                      </a:r>
                      <a:endParaRPr lang="en-US" dirty="0"/>
                    </a:p>
                  </a:txBody>
                  <a:tcPr/>
                </a:tc>
                <a:tc>
                  <a:txBody>
                    <a:bodyPr/>
                    <a:lstStyle/>
                    <a:p>
                      <a:r>
                        <a:rPr lang="en-US" dirty="0" smtClean="0"/>
                        <a:t>Board Position</a:t>
                      </a:r>
                      <a:endParaRPr lang="en-US" dirty="0"/>
                    </a:p>
                  </a:txBody>
                  <a:tcPr/>
                </a:tc>
              </a:tr>
              <a:tr h="454660">
                <a:tc>
                  <a:txBody>
                    <a:bodyPr/>
                    <a:lstStyle/>
                    <a:p>
                      <a:r>
                        <a:rPr lang="en-US" dirty="0" smtClean="0"/>
                        <a:t>0</a:t>
                      </a:r>
                      <a:endParaRPr lang="en-US" dirty="0"/>
                    </a:p>
                  </a:txBody>
                  <a:tcPr/>
                </a:tc>
                <a:tc>
                  <a:txBody>
                    <a:bodyPr/>
                    <a:lstStyle/>
                    <a:p>
                      <a:r>
                        <a:rPr lang="en-US" dirty="0" smtClean="0"/>
                        <a:t>000000000</a:t>
                      </a:r>
                      <a:endParaRPr lang="en-US" dirty="0"/>
                    </a:p>
                  </a:txBody>
                  <a:tcPr/>
                </a:tc>
              </a:tr>
              <a:tr h="454660">
                <a:tc>
                  <a:txBody>
                    <a:bodyPr/>
                    <a:lstStyle/>
                    <a:p>
                      <a:r>
                        <a:rPr lang="en-US" dirty="0" smtClean="0"/>
                        <a:t>1</a:t>
                      </a:r>
                      <a:endParaRPr lang="en-US" dirty="0"/>
                    </a:p>
                  </a:txBody>
                  <a:tcPr/>
                </a:tc>
                <a:tc>
                  <a:txBody>
                    <a:bodyPr/>
                    <a:lstStyle/>
                    <a:p>
                      <a:r>
                        <a:rPr lang="en-US" dirty="0" smtClean="0"/>
                        <a:t>000010000</a:t>
                      </a:r>
                      <a:endParaRPr lang="en-US" dirty="0"/>
                    </a:p>
                  </a:txBody>
                  <a:tcPr/>
                </a:tc>
              </a:tr>
              <a:tr h="454660">
                <a:tc>
                  <a:txBody>
                    <a:bodyPr/>
                    <a:lstStyle/>
                    <a:p>
                      <a:r>
                        <a:rPr lang="en-US" dirty="0" smtClean="0"/>
                        <a:t>2</a:t>
                      </a:r>
                      <a:endParaRPr lang="en-US" dirty="0"/>
                    </a:p>
                  </a:txBody>
                  <a:tcPr/>
                </a:tc>
                <a:tc>
                  <a:txBody>
                    <a:bodyPr/>
                    <a:lstStyle/>
                    <a:p>
                      <a:r>
                        <a:rPr lang="en-US" dirty="0" smtClean="0"/>
                        <a:t>000012000</a:t>
                      </a:r>
                      <a:endParaRPr lang="en-US" dirty="0"/>
                    </a:p>
                  </a:txBody>
                  <a:tcPr/>
                </a:tc>
              </a:tr>
              <a:tr h="454660">
                <a:tc>
                  <a:txBody>
                    <a:bodyPr/>
                    <a:lstStyle/>
                    <a:p>
                      <a:r>
                        <a:rPr lang="en-US" dirty="0" smtClean="0"/>
                        <a:t>3</a:t>
                      </a:r>
                      <a:endParaRPr lang="en-US" dirty="0"/>
                    </a:p>
                  </a:txBody>
                  <a:tcPr/>
                </a:tc>
                <a:tc>
                  <a:txBody>
                    <a:bodyPr/>
                    <a:lstStyle/>
                    <a:p>
                      <a:r>
                        <a:rPr lang="en-US" dirty="0" smtClean="0"/>
                        <a:t>100012000</a:t>
                      </a:r>
                      <a:endParaRPr lang="en-US" dirty="0"/>
                    </a:p>
                  </a:txBody>
                  <a:tcPr/>
                </a:tc>
              </a:tr>
              <a:tr h="454660">
                <a:tc>
                  <a:txBody>
                    <a:bodyPr/>
                    <a:lstStyle/>
                    <a:p>
                      <a:r>
                        <a:rPr lang="en-US" dirty="0" smtClean="0"/>
                        <a:t>………………………</a:t>
                      </a:r>
                      <a:endParaRPr lang="en-US" dirty="0"/>
                    </a:p>
                  </a:txBody>
                  <a:tcPr/>
                </a:tc>
                <a:tc>
                  <a:txBody>
                    <a:bodyPr/>
                    <a:lstStyle/>
                    <a:p>
                      <a:r>
                        <a:rPr lang="en-US" dirty="0" smtClean="0"/>
                        <a:t>………………………..</a:t>
                      </a:r>
                      <a:endParaRPr lang="en-US" dirty="0"/>
                    </a:p>
                  </a:txBody>
                  <a:tcPr/>
                </a:tc>
              </a:tr>
              <a:tr h="454660">
                <a:tc>
                  <a:txBody>
                    <a:bodyPr/>
                    <a:lstStyle/>
                    <a:p>
                      <a:endParaRPr lang="en-US"/>
                    </a:p>
                  </a:txBody>
                  <a:tcPr/>
                </a:tc>
                <a:tc>
                  <a:txBody>
                    <a:bodyPr/>
                    <a:lstStyle/>
                    <a:p>
                      <a:endParaRPr lang="en-US"/>
                    </a:p>
                  </a:txBody>
                  <a:tcPr/>
                </a:tc>
              </a:tr>
              <a:tr h="454660">
                <a:tc>
                  <a:txBody>
                    <a:bodyPr/>
                    <a:lstStyle/>
                    <a:p>
                      <a:endParaRPr lang="en-US"/>
                    </a:p>
                  </a:txBody>
                  <a:tcPr/>
                </a:tc>
                <a:tc>
                  <a:txBody>
                    <a:bodyPr/>
                    <a:lstStyle/>
                    <a:p>
                      <a:endParaRPr lang="en-US"/>
                    </a:p>
                  </a:txBody>
                  <a:tcPr/>
                </a:tc>
              </a:tr>
              <a:tr h="454660">
                <a:tc>
                  <a:txBody>
                    <a:bodyPr/>
                    <a:lstStyle/>
                    <a:p>
                      <a:endParaRPr lang="en-US"/>
                    </a:p>
                  </a:txBody>
                  <a:tcPr/>
                </a:tc>
                <a:tc>
                  <a:txBody>
                    <a:bodyPr/>
                    <a:lstStyle/>
                    <a:p>
                      <a:endParaRPr lang="en-US"/>
                    </a:p>
                  </a:txBody>
                  <a:tcPr/>
                </a:tc>
              </a:tr>
              <a:tr h="454660">
                <a:tc>
                  <a:txBody>
                    <a:bodyPr/>
                    <a:lstStyle/>
                    <a:p>
                      <a:r>
                        <a:rPr lang="en-US" dirty="0" smtClean="0"/>
                        <a:t>3</a:t>
                      </a:r>
                      <a:r>
                        <a:rPr lang="en-US" baseline="30000" dirty="0" smtClean="0"/>
                        <a:t>9</a:t>
                      </a:r>
                      <a:endParaRPr lang="en-US" baseline="30000" dirty="0"/>
                    </a:p>
                  </a:txBody>
                  <a:tcPr/>
                </a:tc>
                <a:tc>
                  <a:txBody>
                    <a:bodyPr/>
                    <a:lstStyle/>
                    <a:p>
                      <a:r>
                        <a:rPr lang="en-US" smtClean="0"/>
                        <a:t>………………………..</a:t>
                      </a:r>
                      <a:endParaRPr lang="en-US" dirty="0"/>
                    </a:p>
                  </a:txBody>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229600" cy="4953000"/>
          </a:xfrm>
        </p:spPr>
        <p:txBody>
          <a:bodyPr>
            <a:normAutofit lnSpcReduction="10000"/>
          </a:bodyPr>
          <a:lstStyle/>
          <a:p>
            <a:pPr algn="ctr">
              <a:buNone/>
            </a:pPr>
            <a:r>
              <a:rPr lang="en-US" b="1" dirty="0" smtClean="0"/>
              <a:t>Comments</a:t>
            </a:r>
          </a:p>
          <a:p>
            <a:pPr marL="514350" indent="-514350">
              <a:buAutoNum type="arabicPeriod"/>
            </a:pPr>
            <a:r>
              <a:rPr lang="en-US" dirty="0" smtClean="0"/>
              <a:t>Optimal in terms of time.</a:t>
            </a:r>
          </a:p>
          <a:p>
            <a:pPr marL="514350" indent="-514350">
              <a:buAutoNum type="arabicPeriod"/>
            </a:pPr>
            <a:r>
              <a:rPr lang="en-US" dirty="0" smtClean="0"/>
              <a:t>Requires lot of storage space to store board positions.</a:t>
            </a:r>
          </a:p>
          <a:p>
            <a:pPr marL="514350" indent="-514350">
              <a:buAutoNum type="arabicPeriod"/>
            </a:pPr>
            <a:r>
              <a:rPr lang="en-US" dirty="0" smtClean="0"/>
              <a:t>All entries in </a:t>
            </a:r>
            <a:r>
              <a:rPr lang="en-US" dirty="0" err="1" smtClean="0"/>
              <a:t>Movetable</a:t>
            </a:r>
            <a:r>
              <a:rPr lang="en-US" dirty="0" smtClean="0"/>
              <a:t> are to be specified.</a:t>
            </a:r>
          </a:p>
          <a:p>
            <a:pPr marL="514350" indent="-514350">
              <a:buAutoNum type="arabicPeriod"/>
            </a:pPr>
            <a:r>
              <a:rPr lang="en-US" dirty="0" smtClean="0"/>
              <a:t>Errors may occur while determining the entries of </a:t>
            </a:r>
            <a:r>
              <a:rPr lang="en-US" dirty="0" err="1" smtClean="0"/>
              <a:t>Movetable</a:t>
            </a:r>
            <a:r>
              <a:rPr lang="en-US" dirty="0" smtClean="0"/>
              <a:t>.</a:t>
            </a:r>
          </a:p>
          <a:p>
            <a:pPr marL="514350" indent="-514350">
              <a:buAutoNum type="arabicPeriod"/>
            </a:pPr>
            <a:r>
              <a:rPr lang="en-US" dirty="0" smtClean="0"/>
              <a:t>The solution cannot be extended to higher dimensions.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Tic-</a:t>
            </a:r>
            <a:r>
              <a:rPr lang="en-US" dirty="0" err="1" smtClean="0"/>
              <a:t>Tac</a:t>
            </a:r>
            <a:r>
              <a:rPr lang="en-US" dirty="0" smtClean="0"/>
              <a:t>-Toe(Program 2)</a:t>
            </a:r>
            <a:endParaRPr lang="en-US" dirty="0"/>
          </a:p>
        </p:txBody>
      </p:sp>
      <p:sp>
        <p:nvSpPr>
          <p:cNvPr id="3" name="Content Placeholder 2"/>
          <p:cNvSpPr>
            <a:spLocks noGrp="1"/>
          </p:cNvSpPr>
          <p:nvPr>
            <p:ph idx="1"/>
          </p:nvPr>
        </p:nvSpPr>
        <p:spPr/>
        <p:txBody>
          <a:bodyPr/>
          <a:lstStyle/>
          <a:p>
            <a:pPr algn="ctr">
              <a:buNone/>
            </a:pPr>
            <a:r>
              <a:rPr lang="en-US" b="1" dirty="0" smtClean="0"/>
              <a:t>Data Structures</a:t>
            </a:r>
          </a:p>
          <a:p>
            <a:pPr algn="just">
              <a:buNone/>
            </a:pPr>
            <a:r>
              <a:rPr lang="en-US" dirty="0" smtClean="0"/>
              <a:t>Board: A nine element vector representing the board, a list of board positions that could result from the next move and a number representing an estimate of how likely the board position is to lead to an ultimate win for players.</a:t>
            </a:r>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a:bodyPr>
          <a:lstStyle/>
          <a:p>
            <a:pPr algn="ctr">
              <a:buNone/>
            </a:pPr>
            <a:r>
              <a:rPr lang="en-US" b="1" dirty="0" smtClean="0"/>
              <a:t>The Algorithm</a:t>
            </a:r>
          </a:p>
          <a:p>
            <a:pPr algn="just">
              <a:buNone/>
            </a:pPr>
            <a:r>
              <a:rPr lang="en-US" dirty="0" smtClean="0"/>
              <a:t>To decide on the next move, look for the result of each possible move. Decide which is the best, make the move that leads to that position and assign the rating of the best move to the current position.</a:t>
            </a:r>
          </a:p>
          <a:p>
            <a:pPr algn="just">
              <a:buNone/>
            </a:pPr>
            <a:r>
              <a:rPr lang="en-US" dirty="0" smtClean="0"/>
              <a:t>To decide which set of board positions is best do the following for each of them:</a:t>
            </a:r>
          </a:p>
          <a:p>
            <a:pPr algn="just">
              <a:buNone/>
            </a:pPr>
            <a:r>
              <a:rPr lang="en-US" dirty="0" smtClean="0"/>
              <a:t>1. See if it is a win. If so call the best by assigning highest possible rating.</a:t>
            </a:r>
          </a:p>
          <a:p>
            <a:pPr>
              <a:buNone/>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71600"/>
            <a:ext cx="8229600" cy="4754563"/>
          </a:xfrm>
        </p:spPr>
        <p:txBody>
          <a:bodyPr/>
          <a:lstStyle/>
          <a:p>
            <a:pPr>
              <a:buNone/>
            </a:pPr>
            <a:r>
              <a:rPr lang="en-US" dirty="0" smtClean="0"/>
              <a:t>2. Otherwise consider all moves the opponent could make. See which is worst for us. Assume the opponent will make that move. Whatever rating the move has, assign it to the node we are considering.</a:t>
            </a:r>
          </a:p>
          <a:p>
            <a:pPr>
              <a:buNone/>
            </a:pPr>
            <a:r>
              <a:rPr lang="en-US" dirty="0" smtClean="0"/>
              <a:t>3. The best node is then one with highest rating. </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219200"/>
            <a:ext cx="8229600" cy="4267200"/>
          </a:xfrm>
        </p:spPr>
        <p:txBody>
          <a:bodyPr/>
          <a:lstStyle/>
          <a:p>
            <a:pPr algn="ctr">
              <a:buNone/>
            </a:pPr>
            <a:r>
              <a:rPr lang="en-US" b="1" dirty="0" smtClean="0"/>
              <a:t>Comments</a:t>
            </a:r>
          </a:p>
          <a:p>
            <a:pPr marL="514350" indent="-514350" algn="just">
              <a:buAutoNum type="arabicPeriod"/>
            </a:pPr>
            <a:r>
              <a:rPr lang="en-US" dirty="0" smtClean="0"/>
              <a:t>Requires much more time.</a:t>
            </a:r>
          </a:p>
          <a:p>
            <a:pPr marL="514350" indent="-514350" algn="just">
              <a:buAutoNum type="arabicPeriod"/>
            </a:pPr>
            <a:r>
              <a:rPr lang="en-US" dirty="0" smtClean="0"/>
              <a:t>Strategy could be extended to games more complicated than tic-tac-toe.</a:t>
            </a:r>
          </a:p>
          <a:p>
            <a:pPr marL="514350" indent="-514350" algn="just">
              <a:buAutoNum type="arabicPeriod"/>
            </a:pPr>
            <a:r>
              <a:rPr lang="en-US" dirty="0" smtClean="0"/>
              <a:t>The solution can be extended to higher dimensions.</a:t>
            </a:r>
          </a:p>
          <a:p>
            <a:pPr marL="514350" indent="-514350" algn="just">
              <a:buAutoNum type="arabicPeriod"/>
            </a:pPr>
            <a:r>
              <a:rPr lang="en-US" dirty="0" smtClean="0"/>
              <a:t>Example of AI technique. </a:t>
            </a:r>
          </a:p>
          <a:p>
            <a:pPr algn="just">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020762"/>
          </a:xfrm>
        </p:spPr>
        <p:txBody>
          <a:bodyPr/>
          <a:lstStyle/>
          <a:p>
            <a:r>
              <a:rPr lang="en-US" dirty="0" smtClean="0"/>
              <a:t>The Level of the Model</a:t>
            </a:r>
            <a:endParaRPr lang="en-US" dirty="0"/>
          </a:p>
        </p:txBody>
      </p:sp>
      <p:sp>
        <p:nvSpPr>
          <p:cNvPr id="3" name="Content Placeholder 2"/>
          <p:cNvSpPr>
            <a:spLocks noGrp="1"/>
          </p:cNvSpPr>
          <p:nvPr>
            <p:ph idx="1"/>
          </p:nvPr>
        </p:nvSpPr>
        <p:spPr>
          <a:xfrm>
            <a:off x="457200" y="1371600"/>
            <a:ext cx="8229600" cy="5181600"/>
          </a:xfrm>
        </p:spPr>
        <p:txBody>
          <a:bodyPr/>
          <a:lstStyle/>
          <a:p>
            <a:pPr algn="just"/>
            <a:r>
              <a:rPr lang="en-US" dirty="0" smtClean="0"/>
              <a:t>Two classes of problems identified.</a:t>
            </a:r>
          </a:p>
          <a:p>
            <a:pPr algn="just"/>
            <a:r>
              <a:rPr lang="en-US" dirty="0" smtClean="0"/>
              <a:t>First class are the problems that a computer could easily solve using mechanisms not available to people. Example: Elementary Perceiver and Memorizer (EPM). </a:t>
            </a:r>
          </a:p>
          <a:p>
            <a:pPr algn="just"/>
            <a:r>
              <a:rPr lang="en-US" dirty="0" smtClean="0"/>
              <a:t>Do not fit in our AI definition.</a:t>
            </a:r>
          </a:p>
          <a:p>
            <a:pPr algn="just"/>
            <a:r>
              <a:rPr lang="en-US" dirty="0" smtClean="0"/>
              <a:t>Second class attempts to model human performance fall within our AI definition. Example: Predicting student results.</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229600" cy="639762"/>
          </a:xfrm>
        </p:spPr>
        <p:txBody>
          <a:bodyPr>
            <a:normAutofit fontScale="90000"/>
          </a:bodyPr>
          <a:lstStyle/>
          <a:p>
            <a:r>
              <a:rPr lang="en-US" dirty="0" smtClean="0"/>
              <a:t>Criteria for Success (Turing Test)</a:t>
            </a:r>
            <a:endParaRPr lang="en-US" dirty="0"/>
          </a:p>
        </p:txBody>
      </p:sp>
      <p:sp>
        <p:nvSpPr>
          <p:cNvPr id="3" name="Content Placeholder 2"/>
          <p:cNvSpPr>
            <a:spLocks noGrp="1"/>
          </p:cNvSpPr>
          <p:nvPr>
            <p:ph idx="1"/>
          </p:nvPr>
        </p:nvSpPr>
        <p:spPr>
          <a:xfrm>
            <a:off x="457200" y="1371600"/>
            <a:ext cx="8229600" cy="5105400"/>
          </a:xfrm>
        </p:spPr>
        <p:txBody>
          <a:bodyPr>
            <a:normAutofit lnSpcReduction="10000"/>
          </a:bodyPr>
          <a:lstStyle/>
          <a:p>
            <a:pPr algn="just"/>
            <a:r>
              <a:rPr lang="en-US" dirty="0" smtClean="0"/>
              <a:t>Two people and machine to be evaluated.</a:t>
            </a:r>
          </a:p>
          <a:p>
            <a:pPr algn="just"/>
            <a:r>
              <a:rPr lang="en-US" dirty="0" smtClean="0"/>
              <a:t>One person plays the role of interrogator, who is in a separate room from the computer and other person.</a:t>
            </a:r>
          </a:p>
          <a:p>
            <a:pPr algn="just"/>
            <a:r>
              <a:rPr lang="en-US" dirty="0" smtClean="0"/>
              <a:t>The interrogator asks questions to both and receives typed response without knowing their identity aiming to determine the computer and people.</a:t>
            </a:r>
          </a:p>
          <a:p>
            <a:pPr algn="just"/>
            <a:r>
              <a:rPr lang="en-US" dirty="0" smtClean="0"/>
              <a:t>Goal of the machine is to fool the interrogator in believing that it is a person.</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19200"/>
            <a:ext cx="8229600" cy="4906963"/>
          </a:xfrm>
        </p:spPr>
        <p:txBody>
          <a:bodyPr/>
          <a:lstStyle/>
          <a:p>
            <a:pPr algn="just"/>
            <a:r>
              <a:rPr lang="en-US" dirty="0" smtClean="0"/>
              <a:t>Will take a long time for a computer to pass Turing test.</a:t>
            </a:r>
          </a:p>
          <a:p>
            <a:pPr algn="just"/>
            <a:r>
              <a:rPr lang="en-US" dirty="0" smtClean="0"/>
              <a:t>Some researchers believe none ever will.</a:t>
            </a:r>
          </a:p>
          <a:p>
            <a:pPr algn="just"/>
            <a:r>
              <a:rPr lang="en-US" dirty="0" smtClean="0"/>
              <a:t>However some success has been achieved in restricted domain.</a:t>
            </a:r>
          </a:p>
          <a:p>
            <a:pPr algn="just"/>
            <a:r>
              <a:rPr lang="en-US" dirty="0" smtClean="0"/>
              <a:t>Examples: Programs acquiring chess rating like humans, analyzes organic compounds for their structure (DENDRAL), configuring computer systems(R1) etc.</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390</TotalTime>
  <Words>1051</Words>
  <Application>Microsoft Office PowerPoint</Application>
  <PresentationFormat>On-screen Show (4:3)</PresentationFormat>
  <Paragraphs>145</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What is Artificial Intelligence?</vt:lpstr>
      <vt:lpstr>Slide 2</vt:lpstr>
      <vt:lpstr>Task Domain of AI</vt:lpstr>
      <vt:lpstr>Slide 4</vt:lpstr>
      <vt:lpstr>Slide 5</vt:lpstr>
      <vt:lpstr>Areas to be addressed </vt:lpstr>
      <vt:lpstr>The underlying Assumption</vt:lpstr>
      <vt:lpstr>Slide 8</vt:lpstr>
      <vt:lpstr>Slide 9</vt:lpstr>
      <vt:lpstr>AI Technique</vt:lpstr>
      <vt:lpstr>Slide 11</vt:lpstr>
      <vt:lpstr>Tic-Tac-Toe(Program 1)</vt:lpstr>
      <vt:lpstr>Slide 13</vt:lpstr>
      <vt:lpstr>Example</vt:lpstr>
      <vt:lpstr>Slide 15</vt:lpstr>
      <vt:lpstr>Slide 16</vt:lpstr>
      <vt:lpstr>Tic-Tac-Toe(Program 2)</vt:lpstr>
      <vt:lpstr>Slide 18</vt:lpstr>
      <vt:lpstr>Slide 19</vt:lpstr>
      <vt:lpstr>Slide 20</vt:lpstr>
      <vt:lpstr>The Level of the Model</vt:lpstr>
      <vt:lpstr>Criteria for Success (Turing Test)</vt:lpstr>
      <vt:lpstr>Slide 23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Artificial Intelligence?</dc:title>
  <dc:creator>anal</dc:creator>
  <cp:lastModifiedBy>anal</cp:lastModifiedBy>
  <cp:revision>43</cp:revision>
  <dcterms:created xsi:type="dcterms:W3CDTF">2006-08-16T00:00:00Z</dcterms:created>
  <dcterms:modified xsi:type="dcterms:W3CDTF">2020-07-18T05:21:45Z</dcterms:modified>
</cp:coreProperties>
</file>