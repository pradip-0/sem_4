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8"/>
  </p:notesMasterIdLst>
  <p:handoutMasterIdLst>
    <p:handoutMasterId r:id="rId49"/>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notesViewPr>
    <p:cSldViewPr>
      <p:cViewPr varScale="1">
        <p:scale>
          <a:sx n="55" d="100"/>
          <a:sy n="55" d="100"/>
        </p:scale>
        <p:origin x="-2904" y="-102"/>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CAC329E-25AC-4972-87B3-33ED3ADA8CDB}" type="datetimeFigureOut">
              <a:rPr lang="en-US" smtClean="0"/>
              <a:t>9/1/2020</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A5C2AB7-29A7-49EE-98E8-B3D986FA5BA2}" type="slidenum">
              <a:rPr lang="en-US" smtClean="0"/>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12A124D-8100-4484-B73B-82DAD03E7554}" type="datetimeFigureOut">
              <a:rPr lang="en-US" smtClean="0"/>
              <a:t>9/1/2020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2113DF2-F406-46F0-BFAD-03FB3E664767}"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EC26601-0A9F-4A99-A75D-BBCEC6D957BB}" type="datetime1">
              <a:rPr lang="en-US" smtClean="0"/>
              <a:t>9/1/2020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555EDBA-539C-4449-A8D7-5DD53502F4E7}" type="datetime1">
              <a:rPr lang="en-US" smtClean="0"/>
              <a:t>9/1/2020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4B99382-CA41-4AD8-AF66-6D48196B720F}" type="datetime1">
              <a:rPr lang="en-US" smtClean="0"/>
              <a:t>9/1/2020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0471157-FBFC-4FF4-8A9F-079E838F8B5B}" type="datetime1">
              <a:rPr lang="en-US" smtClean="0"/>
              <a:t>9/1/2020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C9A15CF-F9C9-49C2-A54B-FC5410535897}" type="datetime1">
              <a:rPr lang="en-US" smtClean="0"/>
              <a:t>9/1/2020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3C9132E-EA4A-4078-AE22-C0CEFABC2465}" type="datetime1">
              <a:rPr lang="en-US" smtClean="0"/>
              <a:t>9/1/2020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F6E0A8-B6A3-45B4-9C5F-AB12C693F105}" type="datetime1">
              <a:rPr lang="en-US" smtClean="0"/>
              <a:t>9/1/2020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6E58AF3-8EA7-4A2E-A45B-6E4DDCABC983}" type="datetime1">
              <a:rPr lang="en-US" smtClean="0"/>
              <a:t>9/1/2020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CA06BF0-123D-4ED7-9D67-A04FA8F19BAB}" type="datetime1">
              <a:rPr lang="en-US" smtClean="0"/>
              <a:t>9/1/2020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61D0549-76CE-46F2-A645-8BCD25178AC3}" type="datetime1">
              <a:rPr lang="en-US" smtClean="0"/>
              <a:t>9/1/2020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5F73FA6-1FD5-4BF0-BDA6-1A1B63E39125}" type="datetime1">
              <a:rPr lang="en-US" smtClean="0"/>
              <a:t>9/1/2020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439023-C800-4A9F-99D3-210BDFA42791}" type="datetime1">
              <a:rPr lang="en-US" smtClean="0"/>
              <a:t>9/1/2020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
        <p:nvSpPr>
          <p:cNvPr id="7" name="Rectangle 6"/>
          <p:cNvSpPr/>
          <p:nvPr userDrawn="1"/>
        </p:nvSpPr>
        <p:spPr>
          <a:xfrm rot="20112182">
            <a:off x="173423" y="2967335"/>
            <a:ext cx="8797153" cy="923330"/>
          </a:xfrm>
          <a:prstGeom prst="rect">
            <a:avLst/>
          </a:prstGeom>
          <a:noFill/>
        </p:spPr>
        <p:txBody>
          <a:bodyPr wrap="none" lIns="91440" tIns="45720" rIns="91440" bIns="45720">
            <a:spAutoFit/>
            <a:scene3d>
              <a:camera prst="orthographicFront"/>
              <a:lightRig rig="flat" dir="tl"/>
            </a:scene3d>
            <a:sp3d contourW="19050" prstMaterial="clear">
              <a:bevelT w="50800" h="50800"/>
              <a:contourClr>
                <a:schemeClr val="accent5">
                  <a:tint val="70000"/>
                  <a:satMod val="180000"/>
                  <a:alpha val="70000"/>
                </a:schemeClr>
              </a:contourClr>
            </a:sp3d>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5400" b="1" cap="none" spc="0" dirty="0" smtClean="0">
                <a:ln/>
                <a:solidFill>
                  <a:schemeClr val="accent5">
                    <a:tint val="50000"/>
                    <a:satMod val="180000"/>
                  </a:schemeClr>
                </a:solidFill>
                <a:effectLst/>
              </a:rPr>
              <a:t>Dr.</a:t>
            </a:r>
            <a:r>
              <a:rPr lang="en-US" sz="5400" b="1" cap="none" spc="0" baseline="0" dirty="0" smtClean="0">
                <a:ln/>
                <a:solidFill>
                  <a:schemeClr val="accent5">
                    <a:tint val="50000"/>
                    <a:satMod val="180000"/>
                  </a:schemeClr>
                </a:solidFill>
                <a:effectLst/>
              </a:rPr>
              <a:t> Anal </a:t>
            </a:r>
            <a:r>
              <a:rPr lang="en-US" sz="5400" b="1" cap="none" spc="0" baseline="0" dirty="0" err="1" smtClean="0">
                <a:ln/>
                <a:solidFill>
                  <a:schemeClr val="accent5">
                    <a:tint val="50000"/>
                    <a:satMod val="180000"/>
                  </a:schemeClr>
                </a:solidFill>
                <a:effectLst/>
              </a:rPr>
              <a:t>Acharya</a:t>
            </a:r>
            <a:r>
              <a:rPr lang="en-US" sz="5400" b="1" cap="none" spc="0" baseline="0" dirty="0" smtClean="0">
                <a:ln/>
                <a:solidFill>
                  <a:schemeClr val="accent5">
                    <a:tint val="50000"/>
                    <a:satMod val="180000"/>
                  </a:schemeClr>
                </a:solidFill>
                <a:effectLst/>
              </a:rPr>
              <a:t>, SXC, Kolkata</a:t>
            </a:r>
            <a:endParaRPr lang="en-US" sz="5400" b="1" cap="none" spc="0" dirty="0">
              <a:ln/>
              <a:solidFill>
                <a:schemeClr val="accent5">
                  <a:tint val="50000"/>
                  <a:satMod val="180000"/>
                </a:schemeClr>
              </a:solidFill>
              <a:effectLst/>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52601"/>
            <a:ext cx="7772400" cy="1847850"/>
          </a:xfrm>
        </p:spPr>
        <p:txBody>
          <a:bodyPr/>
          <a:lstStyle/>
          <a:p>
            <a:r>
              <a:rPr lang="en-US" dirty="0" smtClean="0"/>
              <a:t>Heuristic Search Techniques</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Heuristic Search</a:t>
            </a:r>
            <a:endParaRPr lang="en-US" dirty="0"/>
          </a:p>
        </p:txBody>
      </p:sp>
      <p:sp>
        <p:nvSpPr>
          <p:cNvPr id="3" name="Content Placeholder 2"/>
          <p:cNvSpPr>
            <a:spLocks noGrp="1"/>
          </p:cNvSpPr>
          <p:nvPr>
            <p:ph idx="1"/>
          </p:nvPr>
        </p:nvSpPr>
        <p:spPr/>
        <p:txBody>
          <a:bodyPr/>
          <a:lstStyle/>
          <a:p>
            <a:pPr algn="just"/>
            <a:r>
              <a:rPr lang="en-US" dirty="0" smtClean="0"/>
              <a:t>Are a set of general purpose search techniques. </a:t>
            </a:r>
          </a:p>
          <a:p>
            <a:pPr algn="just"/>
            <a:r>
              <a:rPr lang="en-US" dirty="0" smtClean="0"/>
              <a:t>Can be described independently of any problem domain.</a:t>
            </a:r>
          </a:p>
          <a:p>
            <a:pPr algn="just"/>
            <a:r>
              <a:rPr lang="en-US" dirty="0" smtClean="0"/>
              <a:t>Their efficacy is highly dependent on the applied problem domain since they are unable to overcome combinatorial explosion.</a:t>
            </a:r>
          </a:p>
          <a:p>
            <a:r>
              <a:rPr lang="en-US" dirty="0" smtClean="0"/>
              <a:t>Two methods already discussed (DFS and BFS).</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Generate and Test</a:t>
            </a:r>
            <a:endParaRPr lang="en-US" dirty="0"/>
          </a:p>
        </p:txBody>
      </p:sp>
      <p:sp>
        <p:nvSpPr>
          <p:cNvPr id="3" name="Content Placeholder 2"/>
          <p:cNvSpPr>
            <a:spLocks noGrp="1"/>
          </p:cNvSpPr>
          <p:nvPr>
            <p:ph idx="1"/>
          </p:nvPr>
        </p:nvSpPr>
        <p:spPr/>
        <p:txBody>
          <a:bodyPr>
            <a:normAutofit fontScale="92500"/>
          </a:bodyPr>
          <a:lstStyle/>
          <a:p>
            <a:pPr>
              <a:buNone/>
            </a:pPr>
            <a:r>
              <a:rPr lang="en-US" sz="2800" dirty="0" smtClean="0"/>
              <a:t>Algorithm: Generate and Test</a:t>
            </a:r>
          </a:p>
          <a:p>
            <a:pPr marL="514350" indent="-514350" algn="just">
              <a:buAutoNum type="arabicPeriod"/>
            </a:pPr>
            <a:r>
              <a:rPr lang="en-US" sz="2800" dirty="0" smtClean="0"/>
              <a:t>Generate a possible solution. For some problems, this means generating a particular point on problem space. For others, it means generating a path from start state.</a:t>
            </a:r>
          </a:p>
          <a:p>
            <a:pPr marL="514350" indent="-514350" algn="just">
              <a:buAutoNum type="arabicPeriod"/>
            </a:pPr>
            <a:r>
              <a:rPr lang="en-US" sz="2800" dirty="0" smtClean="0">
                <a:solidFill>
                  <a:srgbClr val="FF0000"/>
                </a:solidFill>
              </a:rPr>
              <a:t>Test</a:t>
            </a:r>
            <a:r>
              <a:rPr lang="en-US" sz="2800" dirty="0" smtClean="0"/>
              <a:t> to see if it is actually a solution by comparing the chosen point or end point of chosen path to the set of acceptable states.</a:t>
            </a:r>
          </a:p>
          <a:p>
            <a:pPr marL="514350" indent="-514350" algn="just">
              <a:buAutoNum type="arabicPeriod"/>
            </a:pPr>
            <a:r>
              <a:rPr lang="en-US" sz="2800" dirty="0" smtClean="0"/>
              <a:t>If solution has been found quit. Otherwise return to step 1.</a:t>
            </a:r>
          </a:p>
          <a:p>
            <a:pPr marL="514350" indent="-514350"/>
            <a:r>
              <a:rPr lang="en-US" sz="2800" dirty="0" smtClean="0"/>
              <a:t>Is a DFS procedure.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t>Example: Colored Blocks Problem</a:t>
            </a:r>
            <a:endParaRPr lang="en-US" sz="3600" dirty="0"/>
          </a:p>
        </p:txBody>
      </p:sp>
      <p:sp>
        <p:nvSpPr>
          <p:cNvPr id="3" name="Content Placeholder 2"/>
          <p:cNvSpPr>
            <a:spLocks noGrp="1"/>
          </p:cNvSpPr>
          <p:nvPr>
            <p:ph idx="1"/>
          </p:nvPr>
        </p:nvSpPr>
        <p:spPr/>
        <p:txBody>
          <a:bodyPr>
            <a:normAutofit lnSpcReduction="10000"/>
          </a:bodyPr>
          <a:lstStyle/>
          <a:p>
            <a:pPr algn="just"/>
            <a:r>
              <a:rPr lang="en-US" dirty="0" smtClean="0"/>
              <a:t>Four six sided cubes each side of the cube painted one of the four colors.</a:t>
            </a:r>
          </a:p>
          <a:p>
            <a:pPr algn="just"/>
            <a:r>
              <a:rPr lang="en-US" dirty="0" smtClean="0"/>
              <a:t>Task: arrangement of the cubes in a row such that on all four sides of the row one block face of each color is showing. </a:t>
            </a:r>
          </a:p>
          <a:p>
            <a:pPr algn="just"/>
            <a:r>
              <a:rPr lang="en-US" dirty="0" smtClean="0"/>
              <a:t>Solution: There are more, say, red faces than there are any colors. While placing a block with red faces use as few of them as outside faces.</a:t>
            </a:r>
          </a:p>
          <a:p>
            <a:pPr algn="just"/>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Hill climbing</a:t>
            </a:r>
            <a:endParaRPr lang="en-US" dirty="0"/>
          </a:p>
        </p:txBody>
      </p:sp>
      <p:sp>
        <p:nvSpPr>
          <p:cNvPr id="3" name="Content Placeholder 2"/>
          <p:cNvSpPr>
            <a:spLocks noGrp="1"/>
          </p:cNvSpPr>
          <p:nvPr>
            <p:ph idx="1"/>
          </p:nvPr>
        </p:nvSpPr>
        <p:spPr/>
        <p:txBody>
          <a:bodyPr/>
          <a:lstStyle/>
          <a:p>
            <a:r>
              <a:rPr lang="en-US" dirty="0" smtClean="0"/>
              <a:t>In pure generate and test procedure, the test function responds only with yes or know.</a:t>
            </a:r>
          </a:p>
          <a:p>
            <a:r>
              <a:rPr lang="en-US" dirty="0" smtClean="0"/>
              <a:t>Hill climbing is a variant of generate and test in which the feedback from the test procedure decides the direction of search process.</a:t>
            </a:r>
          </a:p>
          <a:p>
            <a:r>
              <a:rPr lang="en-US" dirty="0" smtClean="0"/>
              <a:t>Test function is augmented with a heuristic function to provide an estimate of how close a given state is to the goal state.   </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Simple Hill Climbing</a:t>
            </a:r>
            <a:endParaRPr lang="en-US" dirty="0"/>
          </a:p>
        </p:txBody>
      </p:sp>
      <p:pic>
        <p:nvPicPr>
          <p:cNvPr id="1026" name="Picture 2"/>
          <p:cNvPicPr>
            <a:picLocks noGrp="1" noChangeAspect="1" noChangeArrowheads="1"/>
          </p:cNvPicPr>
          <p:nvPr>
            <p:ph idx="1"/>
          </p:nvPr>
        </p:nvPicPr>
        <p:blipFill>
          <a:blip r:embed="rId2"/>
          <a:srcRect/>
          <a:stretch>
            <a:fillRect/>
          </a:stretch>
        </p:blipFill>
        <p:spPr bwMode="auto">
          <a:xfrm>
            <a:off x="228600" y="1676400"/>
            <a:ext cx="8514826" cy="3276600"/>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B6F15528-21DE-4FAA-801E-634DDDAF4B2B}"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Colored Blocks Problem Revisited</a:t>
            </a:r>
            <a:endParaRPr lang="en-US" dirty="0"/>
          </a:p>
        </p:txBody>
      </p:sp>
      <p:sp>
        <p:nvSpPr>
          <p:cNvPr id="3" name="Content Placeholder 2"/>
          <p:cNvSpPr>
            <a:spLocks noGrp="1"/>
          </p:cNvSpPr>
          <p:nvPr>
            <p:ph idx="1"/>
          </p:nvPr>
        </p:nvSpPr>
        <p:spPr/>
        <p:txBody>
          <a:bodyPr>
            <a:normAutofit fontScale="92500"/>
          </a:bodyPr>
          <a:lstStyle/>
          <a:p>
            <a:pPr algn="just"/>
            <a:r>
              <a:rPr lang="en-US" dirty="0" smtClean="0"/>
              <a:t>Heuristic function: Sum of the number of different colors on each of four sides ( value 16 in this case).</a:t>
            </a:r>
          </a:p>
          <a:p>
            <a:pPr algn="just"/>
            <a:r>
              <a:rPr lang="en-US" dirty="0" smtClean="0"/>
              <a:t>Rule: Pick up a block and rotate it 90 degree in any direction.</a:t>
            </a:r>
          </a:p>
          <a:p>
            <a:pPr algn="just"/>
            <a:r>
              <a:rPr lang="en-US" dirty="0" smtClean="0"/>
              <a:t>Application of hill climbing: Generate a new state by selecting a block and rotating it. If the resulting state is better, keep it. If not return to the previous state an try a different combination. </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Steepest Ascent Hill Climbing</a:t>
            </a:r>
            <a:endParaRPr lang="en-US" dirty="0"/>
          </a:p>
        </p:txBody>
      </p:sp>
      <p:sp>
        <p:nvSpPr>
          <p:cNvPr id="3" name="Content Placeholder 2"/>
          <p:cNvSpPr>
            <a:spLocks noGrp="1"/>
          </p:cNvSpPr>
          <p:nvPr>
            <p:ph idx="1"/>
          </p:nvPr>
        </p:nvSpPr>
        <p:spPr/>
        <p:txBody>
          <a:bodyPr/>
          <a:lstStyle/>
          <a:p>
            <a:pPr algn="just"/>
            <a:r>
              <a:rPr lang="en-US" dirty="0" smtClean="0"/>
              <a:t>Variant of Hill climbing technique.</a:t>
            </a:r>
          </a:p>
          <a:p>
            <a:pPr algn="just"/>
            <a:r>
              <a:rPr lang="en-US" dirty="0" smtClean="0"/>
              <a:t>Consider all the moves from the current state and select the best one as next state.</a:t>
            </a:r>
          </a:p>
          <a:p>
            <a:pPr algn="just"/>
            <a:r>
              <a:rPr lang="en-US" dirty="0" smtClean="0"/>
              <a:t>For application of this method in colored blocks problem, all combinations must be considered from initial state which is impossible since it is huge. </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srcRect/>
          <a:stretch>
            <a:fillRect/>
          </a:stretch>
        </p:blipFill>
        <p:spPr bwMode="auto">
          <a:xfrm>
            <a:off x="533400" y="990600"/>
            <a:ext cx="8260188" cy="42672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Both of these may fail to find a solution…. </a:t>
            </a:r>
            <a:endParaRPr lang="en-US" dirty="0"/>
          </a:p>
        </p:txBody>
      </p:sp>
      <p:sp>
        <p:nvSpPr>
          <p:cNvPr id="3" name="Content Placeholder 2"/>
          <p:cNvSpPr>
            <a:spLocks noGrp="1"/>
          </p:cNvSpPr>
          <p:nvPr>
            <p:ph idx="1"/>
          </p:nvPr>
        </p:nvSpPr>
        <p:spPr/>
        <p:txBody>
          <a:bodyPr>
            <a:normAutofit lnSpcReduction="10000"/>
          </a:bodyPr>
          <a:lstStyle/>
          <a:p>
            <a:pPr algn="just"/>
            <a:r>
              <a:rPr lang="en-US" dirty="0" smtClean="0"/>
              <a:t>A local maximum is a state that is better than all its neighbors but is not better than some other states far away.</a:t>
            </a:r>
          </a:p>
          <a:p>
            <a:pPr algn="just"/>
            <a:r>
              <a:rPr lang="en-US" dirty="0" smtClean="0"/>
              <a:t>A plateau is a flat area of the search space in which a whole set of neighboring states have the same value.</a:t>
            </a:r>
          </a:p>
          <a:p>
            <a:pPr algn="just"/>
            <a:r>
              <a:rPr lang="en-US" dirty="0" smtClean="0"/>
              <a:t>A ridge is an area of the search space that is higher than surrounding areas and that itself has a slope.  </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20762"/>
          </a:xfrm>
        </p:spPr>
        <p:txBody>
          <a:bodyPr>
            <a:normAutofit/>
          </a:bodyPr>
          <a:lstStyle/>
          <a:p>
            <a:r>
              <a:rPr lang="en-US" sz="4000" dirty="0" smtClean="0"/>
              <a:t>Ways of dealing with these…</a:t>
            </a:r>
            <a:endParaRPr lang="en-US" sz="4000" dirty="0"/>
          </a:p>
        </p:txBody>
      </p:sp>
      <p:sp>
        <p:nvSpPr>
          <p:cNvPr id="3" name="Content Placeholder 2"/>
          <p:cNvSpPr>
            <a:spLocks noGrp="1"/>
          </p:cNvSpPr>
          <p:nvPr>
            <p:ph idx="1"/>
          </p:nvPr>
        </p:nvSpPr>
        <p:spPr>
          <a:xfrm>
            <a:off x="381000" y="1752600"/>
            <a:ext cx="8229600" cy="3886200"/>
          </a:xfrm>
        </p:spPr>
        <p:txBody>
          <a:bodyPr/>
          <a:lstStyle/>
          <a:p>
            <a:pPr algn="just"/>
            <a:r>
              <a:rPr lang="en-US" dirty="0" smtClean="0"/>
              <a:t>Local maxima: Backtrack to some earlier node and try going in a different direction.</a:t>
            </a:r>
          </a:p>
          <a:p>
            <a:pPr algn="just"/>
            <a:r>
              <a:rPr lang="en-US" dirty="0" smtClean="0"/>
              <a:t>Plateau: Make a big jump in some direction to try to get to a new section of the search space.</a:t>
            </a:r>
          </a:p>
          <a:p>
            <a:pPr algn="just"/>
            <a:r>
              <a:rPr lang="en-US" dirty="0" smtClean="0"/>
              <a:t>Ridges: Apply two or rules before doing a test.</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sz="4000" dirty="0" smtClean="0"/>
              <a:t>Example: Blocks World</a:t>
            </a:r>
            <a:endParaRPr lang="en-US" sz="4000" dirty="0"/>
          </a:p>
        </p:txBody>
      </p:sp>
      <p:sp>
        <p:nvSpPr>
          <p:cNvPr id="3" name="Content Placeholder 2"/>
          <p:cNvSpPr>
            <a:spLocks noGrp="1"/>
          </p:cNvSpPr>
          <p:nvPr>
            <p:ph sz="half" idx="1"/>
          </p:nvPr>
        </p:nvSpPr>
        <p:spPr>
          <a:xfrm>
            <a:off x="457200" y="1143000"/>
            <a:ext cx="5257800" cy="4983163"/>
          </a:xfrm>
        </p:spPr>
        <p:txBody>
          <a:bodyPr/>
          <a:lstStyle/>
          <a:p>
            <a:pPr algn="just"/>
            <a:r>
              <a:rPr lang="en-US" dirty="0" smtClean="0"/>
              <a:t>Local: Add one point for every block that is resting  on the thing it is supposed to be resting on. Subtract one point for every block that is sitting on the wrong thing.  </a:t>
            </a:r>
          </a:p>
          <a:p>
            <a:pPr algn="just"/>
            <a:r>
              <a:rPr lang="en-US" dirty="0" smtClean="0"/>
              <a:t>Goal state: score 8.</a:t>
            </a:r>
          </a:p>
          <a:p>
            <a:pPr algn="just"/>
            <a:r>
              <a:rPr lang="en-US" dirty="0" smtClean="0"/>
              <a:t>Initial state: score 4.</a:t>
            </a:r>
          </a:p>
          <a:p>
            <a:pPr algn="just"/>
            <a:r>
              <a:rPr lang="en-US" dirty="0" smtClean="0"/>
              <a:t>Next move: Move block A to the table (produces score 6). </a:t>
            </a:r>
            <a:endParaRPr lang="en-US" dirty="0"/>
          </a:p>
        </p:txBody>
      </p:sp>
      <p:pic>
        <p:nvPicPr>
          <p:cNvPr id="3074" name="Picture 2"/>
          <p:cNvPicPr>
            <a:picLocks noGrp="1" noChangeAspect="1" noChangeArrowheads="1"/>
          </p:cNvPicPr>
          <p:nvPr>
            <p:ph sz="half" idx="2"/>
          </p:nvPr>
        </p:nvPicPr>
        <p:blipFill>
          <a:blip r:embed="rId2"/>
          <a:srcRect/>
          <a:stretch>
            <a:fillRect/>
          </a:stretch>
        </p:blipFill>
        <p:spPr bwMode="auto">
          <a:xfrm>
            <a:off x="5943600" y="1981200"/>
            <a:ext cx="3006068" cy="3245489"/>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B6F15528-21DE-4FAA-801E-634DDDAF4B2B}"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381000"/>
            <a:ext cx="4572000" cy="6096000"/>
          </a:xfrm>
        </p:spPr>
        <p:txBody>
          <a:bodyPr>
            <a:normAutofit lnSpcReduction="10000"/>
          </a:bodyPr>
          <a:lstStyle/>
          <a:p>
            <a:pPr algn="just"/>
            <a:r>
              <a:rPr lang="en-US" dirty="0" smtClean="0"/>
              <a:t>Leads to 3 possible moves.</a:t>
            </a:r>
          </a:p>
          <a:p>
            <a:pPr algn="just"/>
            <a:r>
              <a:rPr lang="en-US" dirty="0" smtClean="0"/>
              <a:t>The states have scores of (a) 4 (b) 4 (c) 4.</a:t>
            </a:r>
          </a:p>
          <a:p>
            <a:pPr algn="just"/>
            <a:r>
              <a:rPr lang="en-US" dirty="0" smtClean="0"/>
              <a:t>Process reached local maxima which is not global maxima.</a:t>
            </a:r>
          </a:p>
          <a:p>
            <a:pPr algn="just"/>
            <a:r>
              <a:rPr lang="en-US" dirty="0" smtClean="0"/>
              <a:t>Global: For each block that has the correct support structure add on point for each block in the support structure. For each block that has incorrect support structure subtract the same.</a:t>
            </a:r>
            <a:endParaRPr lang="en-US" dirty="0"/>
          </a:p>
        </p:txBody>
      </p:sp>
      <p:pic>
        <p:nvPicPr>
          <p:cNvPr id="4098" name="Picture 2"/>
          <p:cNvPicPr>
            <a:picLocks noGrp="1" noChangeAspect="1" noChangeArrowheads="1"/>
          </p:cNvPicPr>
          <p:nvPr>
            <p:ph sz="half" idx="2"/>
          </p:nvPr>
        </p:nvPicPr>
        <p:blipFill>
          <a:blip r:embed="rId2"/>
          <a:srcRect/>
          <a:stretch>
            <a:fillRect/>
          </a:stretch>
        </p:blipFill>
        <p:spPr bwMode="auto">
          <a:xfrm>
            <a:off x="5181600" y="1752600"/>
            <a:ext cx="3743326" cy="2741927"/>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B6F15528-21DE-4FAA-801E-634DDDAF4B2B}"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4373563"/>
          </a:xfrm>
        </p:spPr>
        <p:txBody>
          <a:bodyPr/>
          <a:lstStyle/>
          <a:p>
            <a:pPr algn="just"/>
            <a:r>
              <a:rPr lang="en-US" dirty="0" smtClean="0"/>
              <a:t>Goal State has score 28 ( 1 for B, 2 for C, etc).</a:t>
            </a:r>
          </a:p>
          <a:p>
            <a:pPr algn="just"/>
            <a:r>
              <a:rPr lang="en-US" dirty="0" smtClean="0"/>
              <a:t>Initial state has score -28.</a:t>
            </a:r>
          </a:p>
          <a:p>
            <a:pPr algn="just"/>
            <a:r>
              <a:rPr lang="en-US" dirty="0" smtClean="0"/>
              <a:t>Move A to the table yields score -21 ( -1 for C, -2 for D etc).</a:t>
            </a:r>
          </a:p>
          <a:p>
            <a:pPr algn="just"/>
            <a:r>
              <a:rPr lang="en-US" dirty="0" smtClean="0"/>
              <a:t>The states (a), (b), (c) respectively produces scores of -28, -16 and -15 indicating that the best next state is (c) which is correct.</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Best First Search</a:t>
            </a:r>
            <a:endParaRPr lang="en-US" dirty="0"/>
          </a:p>
        </p:txBody>
      </p:sp>
      <p:sp>
        <p:nvSpPr>
          <p:cNvPr id="3" name="Content Placeholder 2"/>
          <p:cNvSpPr>
            <a:spLocks noGrp="1"/>
          </p:cNvSpPr>
          <p:nvPr>
            <p:ph idx="1"/>
          </p:nvPr>
        </p:nvSpPr>
        <p:spPr/>
        <p:txBody>
          <a:bodyPr>
            <a:normAutofit lnSpcReduction="10000"/>
          </a:bodyPr>
          <a:lstStyle/>
          <a:p>
            <a:pPr algn="just"/>
            <a:r>
              <a:rPr lang="en-US" dirty="0" smtClean="0"/>
              <a:t>DFS is good because it allows solution to be found without all competing branches having to be expanded.</a:t>
            </a:r>
          </a:p>
          <a:p>
            <a:pPr algn="just"/>
            <a:r>
              <a:rPr lang="en-US" dirty="0" smtClean="0"/>
              <a:t>BFS is good because it does not get trapped in dead end paths.</a:t>
            </a:r>
          </a:p>
          <a:p>
            <a:pPr algn="just"/>
            <a:r>
              <a:rPr lang="en-US" dirty="0" smtClean="0"/>
              <a:t>BFS combines the effectiveness of both by following a single path at a time but switching paths when some competing path looks more promising than the current one. </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a:bodyPr>
          <a:lstStyle/>
          <a:p>
            <a:r>
              <a:rPr lang="en-US" sz="4000" dirty="0" smtClean="0"/>
              <a:t>How does it work?</a:t>
            </a:r>
            <a:endParaRPr lang="en-US" sz="4000" dirty="0"/>
          </a:p>
        </p:txBody>
      </p:sp>
      <p:sp>
        <p:nvSpPr>
          <p:cNvPr id="3" name="Content Placeholder 2"/>
          <p:cNvSpPr>
            <a:spLocks noGrp="1"/>
          </p:cNvSpPr>
          <p:nvPr>
            <p:ph idx="1"/>
          </p:nvPr>
        </p:nvSpPr>
        <p:spPr>
          <a:xfrm>
            <a:off x="457200" y="1295400"/>
            <a:ext cx="8229600" cy="4830763"/>
          </a:xfrm>
        </p:spPr>
        <p:txBody>
          <a:bodyPr>
            <a:normAutofit fontScale="92500" lnSpcReduction="10000"/>
          </a:bodyPr>
          <a:lstStyle/>
          <a:p>
            <a:pPr algn="just"/>
            <a:r>
              <a:rPr lang="en-US" dirty="0" smtClean="0"/>
              <a:t>At each step of the search process the most promising node is selected by applying an appropriate heuristic.</a:t>
            </a:r>
          </a:p>
          <a:p>
            <a:pPr algn="just"/>
            <a:r>
              <a:rPr lang="en-US" dirty="0" smtClean="0"/>
              <a:t>The node is then expanded using appropriate set of rules.</a:t>
            </a:r>
          </a:p>
          <a:p>
            <a:pPr algn="just"/>
            <a:r>
              <a:rPr lang="en-US" dirty="0" smtClean="0"/>
              <a:t>If it is the solution then the search process stops.</a:t>
            </a:r>
          </a:p>
          <a:p>
            <a:pPr algn="just"/>
            <a:r>
              <a:rPr lang="en-US" dirty="0" smtClean="0"/>
              <a:t>Otherwise all the new nodes are added to the set of nodes generated so far.</a:t>
            </a:r>
          </a:p>
          <a:p>
            <a:pPr algn="just"/>
            <a:r>
              <a:rPr lang="en-US" dirty="0" smtClean="0"/>
              <a:t>Again the most promising node is selected and the process continues.</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a:bodyPr>
          <a:lstStyle/>
          <a:p>
            <a:r>
              <a:rPr lang="en-US" sz="4000" dirty="0" smtClean="0"/>
              <a:t>Example</a:t>
            </a:r>
            <a:endParaRPr lang="en-US" sz="4000" dirty="0"/>
          </a:p>
        </p:txBody>
      </p:sp>
      <p:pic>
        <p:nvPicPr>
          <p:cNvPr id="1026" name="Picture 2"/>
          <p:cNvPicPr>
            <a:picLocks noGrp="1" noChangeAspect="1" noChangeArrowheads="1"/>
          </p:cNvPicPr>
          <p:nvPr>
            <p:ph idx="1"/>
          </p:nvPr>
        </p:nvPicPr>
        <p:blipFill>
          <a:blip r:embed="rId2"/>
          <a:srcRect/>
          <a:stretch>
            <a:fillRect/>
          </a:stretch>
        </p:blipFill>
        <p:spPr bwMode="auto">
          <a:xfrm>
            <a:off x="1295400" y="1295400"/>
            <a:ext cx="6180020" cy="5279781"/>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B6F15528-21DE-4FAA-801E-634DDDAF4B2B}" type="slidenum">
              <a:rPr lang="en-US" smtClean="0"/>
              <a:pP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5059363"/>
          </a:xfrm>
        </p:spPr>
        <p:txBody>
          <a:bodyPr>
            <a:normAutofit/>
          </a:bodyPr>
          <a:lstStyle/>
          <a:p>
            <a:pPr algn="just"/>
            <a:r>
              <a:rPr lang="en-US" sz="3000" dirty="0" smtClean="0"/>
              <a:t>The heuristic function is an estimate of the cost of getting to the solution from a given node.</a:t>
            </a:r>
          </a:p>
          <a:p>
            <a:pPr algn="just"/>
            <a:r>
              <a:rPr lang="en-US" sz="3000" dirty="0" smtClean="0"/>
              <a:t>BFS is applied on a directed graph in which each node represents a point in problem space. Each node contains a description of the problem state, an indication how promising it is, list of nodes generated from it and the parent link.  </a:t>
            </a:r>
          </a:p>
          <a:p>
            <a:pPr algn="just"/>
            <a:r>
              <a:rPr lang="en-US" sz="3000" dirty="0" smtClean="0"/>
              <a:t>Such a graph is called an OR graph, since each branch represents an alternate problem solving path.</a:t>
            </a:r>
            <a:endParaRPr lang="en-US" sz="30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t>Two list of nodes are required....</a:t>
            </a:r>
            <a:endParaRPr lang="en-US" sz="3600" dirty="0"/>
          </a:p>
        </p:txBody>
      </p:sp>
      <p:sp>
        <p:nvSpPr>
          <p:cNvPr id="3" name="Content Placeholder 2"/>
          <p:cNvSpPr>
            <a:spLocks noGrp="1"/>
          </p:cNvSpPr>
          <p:nvPr>
            <p:ph idx="1"/>
          </p:nvPr>
        </p:nvSpPr>
        <p:spPr>
          <a:xfrm>
            <a:off x="457200" y="1905001"/>
            <a:ext cx="8229600" cy="4038600"/>
          </a:xfrm>
        </p:spPr>
        <p:txBody>
          <a:bodyPr/>
          <a:lstStyle/>
          <a:p>
            <a:r>
              <a:rPr lang="en-US" dirty="0" smtClean="0"/>
              <a:t>OPEN: nodes that have been generated and have had the heuristic function applied on them but have not yet been examined(i.e. their successors generated). </a:t>
            </a:r>
          </a:p>
          <a:p>
            <a:r>
              <a:rPr lang="en-US" dirty="0" smtClean="0"/>
              <a:t>CLOSED: nodes that have been examined.</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a:bodyPr>
          <a:lstStyle/>
          <a:p>
            <a:r>
              <a:rPr lang="en-US" sz="3600" dirty="0" smtClean="0"/>
              <a:t>Heuristic Function….</a:t>
            </a:r>
            <a:endParaRPr lang="en-US" sz="3600" dirty="0"/>
          </a:p>
        </p:txBody>
      </p:sp>
      <p:sp>
        <p:nvSpPr>
          <p:cNvPr id="3" name="Content Placeholder 2"/>
          <p:cNvSpPr>
            <a:spLocks noGrp="1"/>
          </p:cNvSpPr>
          <p:nvPr>
            <p:ph idx="1"/>
          </p:nvPr>
        </p:nvSpPr>
        <p:spPr>
          <a:xfrm>
            <a:off x="457200" y="1600201"/>
            <a:ext cx="8229600" cy="4267200"/>
          </a:xfrm>
        </p:spPr>
        <p:txBody>
          <a:bodyPr/>
          <a:lstStyle/>
          <a:p>
            <a:pPr algn="just"/>
            <a:r>
              <a:rPr lang="en-US" dirty="0" smtClean="0"/>
              <a:t>Estimates the merit of each node generated.</a:t>
            </a:r>
          </a:p>
          <a:p>
            <a:pPr algn="just"/>
            <a:r>
              <a:rPr lang="en-US" dirty="0" smtClean="0"/>
              <a:t>Indicated as f1.</a:t>
            </a:r>
          </a:p>
          <a:p>
            <a:pPr algn="just"/>
            <a:r>
              <a:rPr lang="en-US" dirty="0" smtClean="0"/>
              <a:t>Defined as the sum of two functions g and h1.</a:t>
            </a:r>
          </a:p>
          <a:p>
            <a:pPr algn="just"/>
            <a:r>
              <a:rPr lang="en-US" dirty="0" smtClean="0"/>
              <a:t>g is a measure of the cost of getting from initial state to current state.</a:t>
            </a:r>
          </a:p>
          <a:p>
            <a:pPr algn="just"/>
            <a:r>
              <a:rPr lang="en-US" dirty="0" smtClean="0"/>
              <a:t>H1 is the estimate of the cost of getting from the current node to the goal state. </a:t>
            </a:r>
          </a:p>
          <a:p>
            <a:pPr>
              <a:buNone/>
            </a:pP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srcRect/>
          <a:stretch>
            <a:fillRect/>
          </a:stretch>
        </p:blipFill>
        <p:spPr bwMode="auto">
          <a:xfrm>
            <a:off x="528637" y="1219200"/>
            <a:ext cx="8086725" cy="3772695"/>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Agenda Driven Search</a:t>
            </a:r>
            <a:endParaRPr lang="en-US" dirty="0"/>
          </a:p>
        </p:txBody>
      </p:sp>
      <p:sp>
        <p:nvSpPr>
          <p:cNvPr id="3" name="Content Placeholder 2"/>
          <p:cNvSpPr>
            <a:spLocks noGrp="1"/>
          </p:cNvSpPr>
          <p:nvPr>
            <p:ph idx="1"/>
          </p:nvPr>
        </p:nvSpPr>
        <p:spPr>
          <a:xfrm>
            <a:off x="457200" y="1371600"/>
            <a:ext cx="8229600" cy="4953000"/>
          </a:xfrm>
        </p:spPr>
        <p:txBody>
          <a:bodyPr>
            <a:normAutofit lnSpcReduction="10000"/>
          </a:bodyPr>
          <a:lstStyle/>
          <a:p>
            <a:pPr algn="just"/>
            <a:r>
              <a:rPr lang="en-US" sz="2800" dirty="0" smtClean="0"/>
              <a:t>In the discussion of OR graphs, it was assumed that we could evaluate multiple paths to the same route independently of each other (for example, water jug problem).</a:t>
            </a:r>
          </a:p>
          <a:p>
            <a:pPr algn="just"/>
            <a:r>
              <a:rPr lang="en-US" sz="2800" dirty="0" smtClean="0"/>
              <a:t>Multiple paths are of no significance.</a:t>
            </a:r>
          </a:p>
          <a:p>
            <a:pPr algn="just"/>
            <a:r>
              <a:rPr lang="en-US" sz="2800" dirty="0" smtClean="0"/>
              <a:t>Consider problems like mathematics discovery program AM, which is given a small set of starting facts about number theory and the set of operators that could be used to develop new ideas.</a:t>
            </a:r>
          </a:p>
          <a:p>
            <a:pPr algn="just"/>
            <a:r>
              <a:rPr lang="en-US" sz="2800" dirty="0" smtClean="0"/>
              <a:t>Several paths lead to the same task, matters in this case.</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838200"/>
          </a:xfrm>
        </p:spPr>
        <p:txBody>
          <a:bodyPr>
            <a:normAutofit/>
          </a:bodyPr>
          <a:lstStyle/>
          <a:p>
            <a:r>
              <a:rPr lang="en-US" sz="3600" dirty="0" smtClean="0"/>
              <a:t>What is agenda?</a:t>
            </a:r>
            <a:endParaRPr lang="en-US" sz="3600" dirty="0"/>
          </a:p>
        </p:txBody>
      </p:sp>
      <p:sp>
        <p:nvSpPr>
          <p:cNvPr id="3" name="Content Placeholder 2"/>
          <p:cNvSpPr>
            <a:spLocks noGrp="1"/>
          </p:cNvSpPr>
          <p:nvPr>
            <p:ph idx="1"/>
          </p:nvPr>
        </p:nvSpPr>
        <p:spPr>
          <a:xfrm>
            <a:off x="457200" y="1371600"/>
            <a:ext cx="8229600" cy="4754563"/>
          </a:xfrm>
        </p:spPr>
        <p:txBody>
          <a:bodyPr>
            <a:normAutofit lnSpcReduction="10000"/>
          </a:bodyPr>
          <a:lstStyle/>
          <a:p>
            <a:pPr algn="just"/>
            <a:r>
              <a:rPr lang="en-US" dirty="0" smtClean="0"/>
              <a:t>Each path contributes a reason why the task would lead to an interesting result.</a:t>
            </a:r>
          </a:p>
          <a:p>
            <a:pPr algn="just"/>
            <a:r>
              <a:rPr lang="en-US" dirty="0" smtClean="0"/>
              <a:t>More the reason, better it is.</a:t>
            </a:r>
          </a:p>
          <a:p>
            <a:pPr algn="just"/>
            <a:r>
              <a:rPr lang="en-US" dirty="0" smtClean="0"/>
              <a:t>An agenda is a list of tasks a system could perform.</a:t>
            </a:r>
          </a:p>
          <a:p>
            <a:pPr algn="just"/>
            <a:r>
              <a:rPr lang="en-US" dirty="0" smtClean="0"/>
              <a:t>Two things associated with each task: a list of reasons why the task is proposed (called justification), and a rating suggesting how useful it would be. </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2"/>
          <a:srcRect/>
          <a:stretch>
            <a:fillRect/>
          </a:stretch>
        </p:blipFill>
        <p:spPr bwMode="auto">
          <a:xfrm>
            <a:off x="495300" y="762000"/>
            <a:ext cx="8343900" cy="5333999"/>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dirty="0" smtClean="0"/>
              <a:t>Problem Reduction</a:t>
            </a:r>
            <a:endParaRPr lang="en-US" dirty="0"/>
          </a:p>
        </p:txBody>
      </p:sp>
      <p:sp>
        <p:nvSpPr>
          <p:cNvPr id="3" name="Content Placeholder 2"/>
          <p:cNvSpPr>
            <a:spLocks noGrp="1"/>
          </p:cNvSpPr>
          <p:nvPr>
            <p:ph sz="half" idx="1"/>
          </p:nvPr>
        </p:nvSpPr>
        <p:spPr>
          <a:xfrm>
            <a:off x="457200" y="1219200"/>
            <a:ext cx="4038600" cy="4906963"/>
          </a:xfrm>
        </p:spPr>
        <p:txBody>
          <a:bodyPr>
            <a:normAutofit fontScale="92500" lnSpcReduction="10000"/>
          </a:bodyPr>
          <a:lstStyle/>
          <a:p>
            <a:pPr algn="just"/>
            <a:r>
              <a:rPr lang="en-US" dirty="0" smtClean="0"/>
              <a:t>OR graphs work on the strategy that we want to find a </a:t>
            </a:r>
            <a:r>
              <a:rPr lang="en-US" dirty="0" smtClean="0">
                <a:solidFill>
                  <a:srgbClr val="FF0000"/>
                </a:solidFill>
              </a:rPr>
              <a:t>single</a:t>
            </a:r>
            <a:r>
              <a:rPr lang="en-US" dirty="0" smtClean="0"/>
              <a:t> path to a goal.</a:t>
            </a:r>
          </a:p>
          <a:p>
            <a:pPr algn="just"/>
            <a:r>
              <a:rPr lang="en-US" dirty="0" smtClean="0"/>
              <a:t>AND-OR graphs are useful in solving problems that can be decomposed into a set of smaller sub problems and then be solved.</a:t>
            </a:r>
          </a:p>
          <a:p>
            <a:pPr algn="just"/>
            <a:r>
              <a:rPr lang="en-US" dirty="0" smtClean="0"/>
              <a:t>The decomposition (reduction) generates arcs called AND arcs.</a:t>
            </a:r>
          </a:p>
          <a:p>
            <a:endParaRPr lang="en-US" dirty="0"/>
          </a:p>
        </p:txBody>
      </p:sp>
      <p:pic>
        <p:nvPicPr>
          <p:cNvPr id="1026" name="Picture 2"/>
          <p:cNvPicPr>
            <a:picLocks noGrp="1" noChangeAspect="1" noChangeArrowheads="1"/>
          </p:cNvPicPr>
          <p:nvPr>
            <p:ph sz="half" idx="2"/>
          </p:nvPr>
        </p:nvPicPr>
        <p:blipFill>
          <a:blip r:embed="rId2"/>
          <a:srcRect/>
          <a:stretch>
            <a:fillRect/>
          </a:stretch>
        </p:blipFill>
        <p:spPr bwMode="auto">
          <a:xfrm>
            <a:off x="4648200" y="2438400"/>
            <a:ext cx="4361688" cy="2057400"/>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B6F15528-21DE-4FAA-801E-634DDDAF4B2B}" type="slidenum">
              <a:rPr lang="en-US" smtClean="0"/>
              <a:p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dirty="0" smtClean="0"/>
              <a:t>BFS cannot be used for problem reduction….</a:t>
            </a:r>
            <a:endParaRPr lang="en-US" sz="3600" dirty="0"/>
          </a:p>
        </p:txBody>
      </p:sp>
      <p:pic>
        <p:nvPicPr>
          <p:cNvPr id="2050" name="Picture 2"/>
          <p:cNvPicPr>
            <a:picLocks noGrp="1" noChangeAspect="1" noChangeArrowheads="1"/>
          </p:cNvPicPr>
          <p:nvPr>
            <p:ph idx="1"/>
          </p:nvPr>
        </p:nvPicPr>
        <p:blipFill>
          <a:blip r:embed="rId2"/>
          <a:srcRect/>
          <a:stretch>
            <a:fillRect/>
          </a:stretch>
        </p:blipFill>
        <p:spPr bwMode="auto">
          <a:xfrm>
            <a:off x="1143000" y="2057400"/>
            <a:ext cx="6956322" cy="2667000"/>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B6F15528-21DE-4FAA-801E-634DDDAF4B2B}" type="slidenum">
              <a:rPr lang="en-US" smtClean="0"/>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66800"/>
            <a:ext cx="8229600" cy="5059363"/>
          </a:xfrm>
        </p:spPr>
        <p:txBody>
          <a:bodyPr>
            <a:normAutofit/>
          </a:bodyPr>
          <a:lstStyle/>
          <a:p>
            <a:pPr algn="just"/>
            <a:r>
              <a:rPr lang="en-US" sz="2800" dirty="0" smtClean="0"/>
              <a:t>Choice of which node to expand next depends </a:t>
            </a:r>
            <a:r>
              <a:rPr lang="en-US" sz="2800" dirty="0" smtClean="0">
                <a:solidFill>
                  <a:srgbClr val="FF0000"/>
                </a:solidFill>
              </a:rPr>
              <a:t>not only </a:t>
            </a:r>
            <a:r>
              <a:rPr lang="en-US" sz="2800" dirty="0" smtClean="0"/>
              <a:t>on the f1 value but also on whether the node is a part of current best path from the initial node.</a:t>
            </a:r>
          </a:p>
          <a:p>
            <a:pPr algn="just"/>
            <a:r>
              <a:rPr lang="en-US" sz="2800" dirty="0" smtClean="0"/>
              <a:t>A value called FUTILITY is used to determine the efficiency of search. </a:t>
            </a:r>
          </a:p>
          <a:p>
            <a:pPr algn="just"/>
            <a:r>
              <a:rPr lang="en-US" sz="2800" dirty="0" smtClean="0"/>
              <a:t>If the estimated cost of solution becomes greater than the value of FUTILITY, the search is abandoned.</a:t>
            </a:r>
          </a:p>
          <a:p>
            <a:pPr algn="just"/>
            <a:endParaRPr lang="en-US" sz="28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2"/>
          <a:srcRect/>
          <a:stretch>
            <a:fillRect/>
          </a:stretch>
        </p:blipFill>
        <p:spPr bwMode="auto">
          <a:xfrm>
            <a:off x="685800" y="1066800"/>
            <a:ext cx="7283592" cy="4656122"/>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2"/>
          <a:srcRect/>
          <a:stretch>
            <a:fillRect/>
          </a:stretch>
        </p:blipFill>
        <p:spPr bwMode="auto">
          <a:xfrm>
            <a:off x="533400" y="609600"/>
            <a:ext cx="8083302" cy="52578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t>The AO* Algorithm</a:t>
            </a:r>
            <a:endParaRPr lang="en-US" sz="3600" dirty="0"/>
          </a:p>
        </p:txBody>
      </p:sp>
      <p:sp>
        <p:nvSpPr>
          <p:cNvPr id="3" name="Content Placeholder 2"/>
          <p:cNvSpPr>
            <a:spLocks noGrp="1"/>
          </p:cNvSpPr>
          <p:nvPr>
            <p:ph idx="1"/>
          </p:nvPr>
        </p:nvSpPr>
        <p:spPr/>
        <p:txBody>
          <a:bodyPr/>
          <a:lstStyle/>
          <a:p>
            <a:pPr algn="just"/>
            <a:r>
              <a:rPr lang="en-US" dirty="0" smtClean="0"/>
              <a:t>Only one list will be used for searching purpose.</a:t>
            </a:r>
          </a:p>
          <a:p>
            <a:pPr algn="just"/>
            <a:r>
              <a:rPr lang="en-US" dirty="0" smtClean="0"/>
              <a:t>GRAPH: representing the part of search graph that has been explicitly generated so far.</a:t>
            </a:r>
          </a:p>
          <a:p>
            <a:pPr algn="just"/>
            <a:r>
              <a:rPr lang="en-US" dirty="0" smtClean="0"/>
              <a:t>Only h1 will be required for the search.</a:t>
            </a:r>
          </a:p>
          <a:p>
            <a:pPr algn="just"/>
            <a:r>
              <a:rPr lang="en-US" dirty="0" smtClean="0"/>
              <a:t>G values cannot be computed as there may be multiple values to the same state.</a:t>
            </a:r>
          </a:p>
          <a:p>
            <a:pPr algn="just">
              <a:buNone/>
            </a:pP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Grp="1" noChangeAspect="1" noChangeArrowheads="1"/>
          </p:cNvPicPr>
          <p:nvPr>
            <p:ph idx="1"/>
          </p:nvPr>
        </p:nvPicPr>
        <p:blipFill>
          <a:blip r:embed="rId2"/>
          <a:srcRect/>
          <a:stretch>
            <a:fillRect/>
          </a:stretch>
        </p:blipFill>
        <p:spPr bwMode="auto">
          <a:xfrm>
            <a:off x="490537" y="609600"/>
            <a:ext cx="8162925" cy="52578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Grp="1" noChangeAspect="1" noChangeArrowheads="1"/>
          </p:cNvPicPr>
          <p:nvPr>
            <p:ph idx="1"/>
          </p:nvPr>
        </p:nvPicPr>
        <p:blipFill>
          <a:blip r:embed="rId2"/>
          <a:srcRect/>
          <a:stretch>
            <a:fillRect/>
          </a:stretch>
        </p:blipFill>
        <p:spPr bwMode="auto">
          <a:xfrm>
            <a:off x="776287" y="685800"/>
            <a:ext cx="7591425" cy="51816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Constraint Satisfaction</a:t>
            </a:r>
            <a:endParaRPr lang="en-US" dirty="0"/>
          </a:p>
        </p:txBody>
      </p:sp>
      <p:sp>
        <p:nvSpPr>
          <p:cNvPr id="3" name="Content Placeholder 2"/>
          <p:cNvSpPr>
            <a:spLocks noGrp="1"/>
          </p:cNvSpPr>
          <p:nvPr>
            <p:ph idx="1"/>
          </p:nvPr>
        </p:nvSpPr>
        <p:spPr/>
        <p:txBody>
          <a:bodyPr>
            <a:normAutofit/>
          </a:bodyPr>
          <a:lstStyle/>
          <a:p>
            <a:r>
              <a:rPr lang="en-US" sz="3000" dirty="0" smtClean="0"/>
              <a:t>Goal is to discover some problem state that satisfies a given set of constraints.</a:t>
            </a:r>
          </a:p>
          <a:p>
            <a:r>
              <a:rPr lang="en-US" sz="3000" dirty="0" smtClean="0"/>
              <a:t>Ex: </a:t>
            </a:r>
            <a:r>
              <a:rPr lang="en-US" sz="3000" dirty="0" err="1" smtClean="0"/>
              <a:t>Cryptarithmetic</a:t>
            </a:r>
            <a:r>
              <a:rPr lang="en-US" sz="3000" dirty="0" smtClean="0"/>
              <a:t> puzzles.</a:t>
            </a:r>
          </a:p>
          <a:p>
            <a:r>
              <a:rPr lang="en-US" sz="3000" dirty="0" smtClean="0"/>
              <a:t>Is a search procedure that operates in a space of constraint sets.</a:t>
            </a:r>
          </a:p>
          <a:p>
            <a:r>
              <a:rPr lang="en-US" sz="3000" dirty="0" smtClean="0"/>
              <a:t>Initial state: problem description.</a:t>
            </a:r>
          </a:p>
          <a:p>
            <a:r>
              <a:rPr lang="en-US" sz="3000" dirty="0" smtClean="0"/>
              <a:t>Goal state: problem solved following constraints.</a:t>
            </a:r>
          </a:p>
          <a:p>
            <a:r>
              <a:rPr lang="en-US" sz="3000" dirty="0" smtClean="0"/>
              <a:t>Two step process.</a:t>
            </a:r>
            <a:endParaRPr lang="en-US" sz="3000"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lstStyle/>
          <a:p>
            <a:pPr algn="just"/>
            <a:r>
              <a:rPr lang="en-US" dirty="0" smtClean="0"/>
              <a:t>First, constraints are discovered and propagated as far as possible throughout the system.</a:t>
            </a:r>
          </a:p>
          <a:p>
            <a:pPr algn="just"/>
            <a:r>
              <a:rPr lang="en-US" dirty="0" smtClean="0"/>
              <a:t>Second, if the solution is not yet found a guess is made and added as a new constraint.</a:t>
            </a:r>
          </a:p>
          <a:p>
            <a:pPr algn="just"/>
            <a:r>
              <a:rPr lang="en-US" dirty="0" smtClean="0"/>
              <a:t>Constraint propagation terminates for one of the two reasons. First, a contradiction is detected. Second, propagation has run out of steam and no further changes can be made on the basis of current knowledge.</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1143000" y="1371600"/>
            <a:ext cx="6258302" cy="3809999"/>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srcRect/>
          <a:stretch>
            <a:fillRect/>
          </a:stretch>
        </p:blipFill>
        <p:spPr bwMode="auto">
          <a:xfrm>
            <a:off x="547687" y="1447800"/>
            <a:ext cx="8048625" cy="31242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2"/>
          <a:srcRect/>
          <a:stretch>
            <a:fillRect/>
          </a:stretch>
        </p:blipFill>
        <p:spPr bwMode="auto">
          <a:xfrm>
            <a:off x="609600" y="1524000"/>
            <a:ext cx="7829550" cy="3505199"/>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2"/>
          <a:srcRect/>
          <a:stretch>
            <a:fillRect/>
          </a:stretch>
        </p:blipFill>
        <p:spPr bwMode="auto">
          <a:xfrm>
            <a:off x="2299975" y="381001"/>
            <a:ext cx="4521106" cy="59436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Means End Analysis</a:t>
            </a:r>
            <a:endParaRPr lang="en-US" dirty="0"/>
          </a:p>
        </p:txBody>
      </p:sp>
      <p:sp>
        <p:nvSpPr>
          <p:cNvPr id="3" name="Content Placeholder 2"/>
          <p:cNvSpPr>
            <a:spLocks noGrp="1"/>
          </p:cNvSpPr>
          <p:nvPr>
            <p:ph idx="1"/>
          </p:nvPr>
        </p:nvSpPr>
        <p:spPr/>
        <p:txBody>
          <a:bodyPr/>
          <a:lstStyle/>
          <a:p>
            <a:r>
              <a:rPr lang="en-US" dirty="0" smtClean="0"/>
              <a:t>Previous algorithms used either forward or backward reasoning.</a:t>
            </a:r>
          </a:p>
          <a:p>
            <a:r>
              <a:rPr lang="en-US" dirty="0" smtClean="0"/>
              <a:t>MEA uses a mixture of these two techniques.</a:t>
            </a:r>
          </a:p>
          <a:p>
            <a:r>
              <a:rPr lang="en-US" dirty="0" smtClean="0"/>
              <a:t>Major parts of the problem are solved first and then these parts appended to get the solution.</a:t>
            </a:r>
          </a:p>
          <a:p>
            <a:r>
              <a:rPr lang="en-US" dirty="0" smtClean="0"/>
              <a:t>Difference between current state and goal state is to be detected.</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943600"/>
          </a:xfrm>
        </p:spPr>
        <p:txBody>
          <a:bodyPr>
            <a:normAutofit lnSpcReduction="10000"/>
          </a:bodyPr>
          <a:lstStyle/>
          <a:p>
            <a:pPr algn="just"/>
            <a:r>
              <a:rPr lang="en-US" dirty="0" smtClean="0"/>
              <a:t>Operator to be applied to reduce this difference.</a:t>
            </a:r>
          </a:p>
          <a:p>
            <a:pPr algn="just"/>
            <a:r>
              <a:rPr lang="en-US" dirty="0" smtClean="0"/>
              <a:t>But this operator may not be applicable to the current state. </a:t>
            </a:r>
          </a:p>
          <a:p>
            <a:pPr algn="just"/>
            <a:r>
              <a:rPr lang="en-US" dirty="0" smtClean="0"/>
              <a:t>This kind of backward chaining in which operators are selected and then sub goals are set up to establish the preconditions of the operators are called operator sub </a:t>
            </a:r>
            <a:r>
              <a:rPr lang="en-US" dirty="0" err="1" smtClean="0"/>
              <a:t>goaling</a:t>
            </a:r>
            <a:r>
              <a:rPr lang="en-US" dirty="0" smtClean="0"/>
              <a:t>.</a:t>
            </a:r>
          </a:p>
          <a:p>
            <a:pPr algn="just"/>
            <a:r>
              <a:rPr lang="en-US" dirty="0" smtClean="0"/>
              <a:t>If the operator does not produce the goal state we want then the same process is applicable.</a:t>
            </a:r>
          </a:p>
          <a:p>
            <a:pPr algn="just"/>
            <a:r>
              <a:rPr lang="en-US" dirty="0" smtClean="0"/>
              <a:t>Thus the process can be applied recursively.</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Grp="1" noChangeAspect="1" noChangeArrowheads="1"/>
          </p:cNvPicPr>
          <p:nvPr>
            <p:ph idx="1"/>
          </p:nvPr>
        </p:nvPicPr>
        <p:blipFill>
          <a:blip r:embed="rId2"/>
          <a:srcRect/>
          <a:stretch>
            <a:fillRect/>
          </a:stretch>
        </p:blipFill>
        <p:spPr bwMode="auto">
          <a:xfrm>
            <a:off x="1371600" y="1295400"/>
            <a:ext cx="6553200" cy="4044032"/>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Grp="1" noChangeAspect="1" noChangeArrowheads="1"/>
          </p:cNvPicPr>
          <p:nvPr>
            <p:ph idx="1"/>
          </p:nvPr>
        </p:nvPicPr>
        <p:blipFill>
          <a:blip r:embed="rId2"/>
          <a:srcRect/>
          <a:stretch>
            <a:fillRect/>
          </a:stretch>
        </p:blipFill>
        <p:spPr bwMode="auto">
          <a:xfrm>
            <a:off x="914400" y="1447800"/>
            <a:ext cx="7214012" cy="28194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lstStyle/>
          <a:p>
            <a:r>
              <a:rPr lang="en-US" dirty="0" smtClean="0"/>
              <a:t>Ex: Moving a desk with two things on it.</a:t>
            </a:r>
          </a:p>
          <a:p>
            <a:r>
              <a:rPr lang="en-US" dirty="0" smtClean="0"/>
              <a:t>Push or Carry operators may be used.</a:t>
            </a:r>
          </a:p>
          <a:p>
            <a:r>
              <a:rPr lang="en-US" dirty="0" smtClean="0"/>
              <a:t>Preconditions not satisfied for carry(as object is not small).</a:t>
            </a:r>
          </a:p>
          <a:p>
            <a:r>
              <a:rPr lang="en-US" dirty="0" smtClean="0"/>
              <a:t>Preconditions for push satisfied.</a:t>
            </a:r>
          </a:p>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639762"/>
          </a:xfrm>
        </p:spPr>
        <p:txBody>
          <a:bodyPr>
            <a:normAutofit fontScale="90000"/>
          </a:bodyPr>
          <a:lstStyle/>
          <a:p>
            <a:r>
              <a:rPr lang="en-US" sz="3600" dirty="0" smtClean="0"/>
              <a:t>Ex: Moving a desk with two things on it.</a:t>
            </a:r>
            <a:endParaRPr lang="en-US" dirty="0"/>
          </a:p>
        </p:txBody>
      </p:sp>
      <p:sp>
        <p:nvSpPr>
          <p:cNvPr id="3" name="Content Placeholder 2"/>
          <p:cNvSpPr>
            <a:spLocks noGrp="1"/>
          </p:cNvSpPr>
          <p:nvPr>
            <p:ph sz="half" idx="1"/>
          </p:nvPr>
        </p:nvSpPr>
        <p:spPr/>
        <p:txBody>
          <a:bodyPr>
            <a:normAutofit fontScale="92500" lnSpcReduction="20000"/>
          </a:bodyPr>
          <a:lstStyle/>
          <a:p>
            <a:pPr algn="just"/>
            <a:r>
              <a:rPr lang="en-US" dirty="0" smtClean="0"/>
              <a:t>Push or Carry operators may be used.</a:t>
            </a:r>
          </a:p>
          <a:p>
            <a:pPr algn="just"/>
            <a:r>
              <a:rPr lang="en-US" dirty="0" smtClean="0"/>
              <a:t>Preconditions not satisfied for carry(as object is not small).</a:t>
            </a:r>
          </a:p>
          <a:p>
            <a:pPr algn="just"/>
            <a:r>
              <a:rPr lang="en-US" dirty="0" smtClean="0"/>
              <a:t>2</a:t>
            </a:r>
            <a:r>
              <a:rPr lang="en-US" baseline="30000" dirty="0" smtClean="0"/>
              <a:t>nd</a:t>
            </a:r>
            <a:r>
              <a:rPr lang="en-US" dirty="0" smtClean="0"/>
              <a:t> and 4</a:t>
            </a:r>
            <a:r>
              <a:rPr lang="en-US" baseline="30000" dirty="0" smtClean="0"/>
              <a:t>th</a:t>
            </a:r>
            <a:r>
              <a:rPr lang="en-US" dirty="0" smtClean="0"/>
              <a:t>  preconditions for push satisfied.</a:t>
            </a:r>
          </a:p>
          <a:p>
            <a:pPr algn="just"/>
            <a:r>
              <a:rPr lang="en-US" dirty="0" smtClean="0"/>
              <a:t>For 3</a:t>
            </a:r>
            <a:r>
              <a:rPr lang="en-US" baseline="30000" dirty="0" smtClean="0"/>
              <a:t>rd</a:t>
            </a:r>
            <a:r>
              <a:rPr lang="en-US" dirty="0" smtClean="0"/>
              <a:t> and 4</a:t>
            </a:r>
            <a:r>
              <a:rPr lang="en-US" baseline="30000" dirty="0" smtClean="0"/>
              <a:t>th</a:t>
            </a:r>
            <a:r>
              <a:rPr lang="en-US" dirty="0" smtClean="0"/>
              <a:t> preconditions to be satisfied  pickup and putdown operators are required.</a:t>
            </a:r>
          </a:p>
          <a:p>
            <a:pPr algn="just"/>
            <a:endParaRPr lang="en-US" dirty="0" smtClean="0"/>
          </a:p>
          <a:p>
            <a:endParaRPr lang="en-US" dirty="0"/>
          </a:p>
        </p:txBody>
      </p:sp>
      <p:pic>
        <p:nvPicPr>
          <p:cNvPr id="7170" name="Picture 2"/>
          <p:cNvPicPr>
            <a:picLocks noGrp="1" noChangeAspect="1" noChangeArrowheads="1"/>
          </p:cNvPicPr>
          <p:nvPr>
            <p:ph sz="half" idx="2"/>
          </p:nvPr>
        </p:nvPicPr>
        <p:blipFill>
          <a:blip r:embed="rId2"/>
          <a:srcRect/>
          <a:stretch>
            <a:fillRect/>
          </a:stretch>
        </p:blipFill>
        <p:spPr bwMode="auto">
          <a:xfrm>
            <a:off x="4590868" y="2743200"/>
            <a:ext cx="3814763" cy="2057400"/>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B6F15528-21DE-4FAA-801E-634DDDAF4B2B}" type="slidenum">
              <a:rPr lang="en-US" smtClean="0"/>
              <a:pPr/>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Grp="1" noChangeAspect="1" noChangeArrowheads="1"/>
          </p:cNvPicPr>
          <p:nvPr>
            <p:ph idx="1"/>
          </p:nvPr>
        </p:nvPicPr>
        <p:blipFill>
          <a:blip r:embed="rId2"/>
          <a:srcRect/>
          <a:stretch>
            <a:fillRect/>
          </a:stretch>
        </p:blipFill>
        <p:spPr bwMode="auto">
          <a:xfrm>
            <a:off x="990600" y="2590800"/>
            <a:ext cx="6797431" cy="16002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Grp="1" noChangeAspect="1" noChangeArrowheads="1"/>
          </p:cNvPicPr>
          <p:nvPr>
            <p:ph idx="1"/>
          </p:nvPr>
        </p:nvPicPr>
        <p:blipFill>
          <a:blip r:embed="rId2"/>
          <a:srcRect/>
          <a:stretch>
            <a:fillRect/>
          </a:stretch>
        </p:blipFill>
        <p:spPr bwMode="auto">
          <a:xfrm>
            <a:off x="457200" y="685800"/>
            <a:ext cx="8319824" cy="5257800"/>
          </a:xfrm>
          <a:prstGeom prst="rect">
            <a:avLst/>
          </a:prstGeom>
          <a:noFill/>
          <a:ln w="9525">
            <a:noFill/>
            <a:miter lim="800000"/>
            <a:headEnd/>
            <a:tailEnd/>
          </a:ln>
          <a:effectLst/>
        </p:spPr>
      </p:pic>
      <p:sp>
        <p:nvSpPr>
          <p:cNvPr id="3" name="Slide Number Placeholder 2"/>
          <p:cNvSpPr>
            <a:spLocks noGrp="1"/>
          </p:cNvSpPr>
          <p:nvPr>
            <p:ph type="sldNum" sz="quarter" idx="12"/>
          </p:nvPr>
        </p:nvSpPr>
        <p:spPr/>
        <p:txBody>
          <a:bodyPr/>
          <a:lstStyle/>
          <a:p>
            <a:fld id="{B6F15528-21DE-4FAA-801E-634DDDAF4B2B}" type="slidenum">
              <a:rPr lang="en-US" smtClean="0"/>
              <a:pPr/>
              <a:t>46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513</TotalTime>
  <Words>1819</Words>
  <Application>Microsoft Office PowerPoint</Application>
  <PresentationFormat>On-screen Show (4:3)</PresentationFormat>
  <Paragraphs>170</Paragraphs>
  <Slides>46</Slides>
  <Notes>0</Notes>
  <HiddenSlides>0</HiddenSlides>
  <MMClips>0</MMClips>
  <ScaleCrop>false</ScaleCrop>
  <HeadingPairs>
    <vt:vector size="4" baseType="variant">
      <vt:variant>
        <vt:lpstr>Theme</vt:lpstr>
      </vt:variant>
      <vt:variant>
        <vt:i4>1</vt:i4>
      </vt:variant>
      <vt:variant>
        <vt:lpstr>Slide Titles</vt:lpstr>
      </vt:variant>
      <vt:variant>
        <vt:i4>46</vt:i4>
      </vt:variant>
    </vt:vector>
  </HeadingPairs>
  <TitlesOfParts>
    <vt:vector size="47" baseType="lpstr">
      <vt:lpstr>Office Theme</vt:lpstr>
      <vt:lpstr>Heuristic Search Techniques</vt:lpstr>
      <vt:lpstr>Heuristic Search</vt:lpstr>
      <vt:lpstr>Generate and Test</vt:lpstr>
      <vt:lpstr>Example: Colored Blocks Problem</vt:lpstr>
      <vt:lpstr>Hill climbing</vt:lpstr>
      <vt:lpstr>Simple Hill Climbing</vt:lpstr>
      <vt:lpstr>Colored Blocks Problem Revisited</vt:lpstr>
      <vt:lpstr>Steepest Ascent Hill Climbing</vt:lpstr>
      <vt:lpstr>Slide 9</vt:lpstr>
      <vt:lpstr>Both of these may fail to find a solution…. </vt:lpstr>
      <vt:lpstr>Ways of dealing with these…</vt:lpstr>
      <vt:lpstr>Example: Blocks World</vt:lpstr>
      <vt:lpstr>Slide 13</vt:lpstr>
      <vt:lpstr>Slide 14</vt:lpstr>
      <vt:lpstr>Best First Search</vt:lpstr>
      <vt:lpstr>How does it work?</vt:lpstr>
      <vt:lpstr>Example</vt:lpstr>
      <vt:lpstr>Slide 18</vt:lpstr>
      <vt:lpstr>Two list of nodes are required....</vt:lpstr>
      <vt:lpstr>Heuristic Function….</vt:lpstr>
      <vt:lpstr>Slide 21</vt:lpstr>
      <vt:lpstr>Agenda Driven Search</vt:lpstr>
      <vt:lpstr>What is agenda?</vt:lpstr>
      <vt:lpstr>Slide 24</vt:lpstr>
      <vt:lpstr>Problem Reduction</vt:lpstr>
      <vt:lpstr>BFS cannot be used for problem reduction….</vt:lpstr>
      <vt:lpstr>Slide 27</vt:lpstr>
      <vt:lpstr>Slide 28</vt:lpstr>
      <vt:lpstr>Slide 29</vt:lpstr>
      <vt:lpstr>The AO* Algorithm</vt:lpstr>
      <vt:lpstr>Slide 31</vt:lpstr>
      <vt:lpstr>Slide 32</vt:lpstr>
      <vt:lpstr>Constraint Satisfaction</vt:lpstr>
      <vt:lpstr>Slide 34</vt:lpstr>
      <vt:lpstr>Slide 35</vt:lpstr>
      <vt:lpstr>Slide 36</vt:lpstr>
      <vt:lpstr>Slide 37</vt:lpstr>
      <vt:lpstr>Slide 38</vt:lpstr>
      <vt:lpstr>Means End Analysis</vt:lpstr>
      <vt:lpstr>Slide 40</vt:lpstr>
      <vt:lpstr>Slide 41</vt:lpstr>
      <vt:lpstr>Slide 42</vt:lpstr>
      <vt:lpstr>Slide 43</vt:lpstr>
      <vt:lpstr>Ex: Moving a desk with two things on it.</vt:lpstr>
      <vt:lpstr>Slide 45</vt:lpstr>
      <vt:lpstr>Slide 46</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Heuristic Search Techniques</dc:title>
  <dc:creator/>
  <cp:lastModifiedBy>anal</cp:lastModifiedBy>
  <cp:revision>58</cp:revision>
  <dcterms:created xsi:type="dcterms:W3CDTF">2006-08-16T00:00:00Z</dcterms:created>
  <dcterms:modified xsi:type="dcterms:W3CDTF">2020-09-01T05:44:40Z</dcterms:modified>
</cp:coreProperties>
</file>