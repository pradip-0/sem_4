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97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1"/>
            <a:ext cx="7772400" cy="1828800"/>
          </a:xfrm>
        </p:spPr>
        <p:txBody>
          <a:bodyPr/>
          <a:lstStyle/>
          <a:p>
            <a:r>
              <a:rPr lang="en-US" dirty="0" smtClean="0"/>
              <a:t>Problems, Problem Spaces, and Search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Solve a problem….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 smtClean="0"/>
              <a:t>Define the problem precisely.</a:t>
            </a:r>
          </a:p>
          <a:p>
            <a:pPr marL="514350" indent="-514350" algn="just">
              <a:buAutoNum type="arabicPeriod"/>
            </a:pPr>
            <a:r>
              <a:rPr lang="en-US" dirty="0" smtClean="0"/>
              <a:t>Analyze the problem.</a:t>
            </a:r>
          </a:p>
          <a:p>
            <a:pPr marL="514350" indent="-514350" algn="just">
              <a:buAutoNum type="arabicPeriod"/>
            </a:pPr>
            <a:r>
              <a:rPr lang="en-US" dirty="0" smtClean="0"/>
              <a:t>Isolate and represent the task knowledge that is necessary to solve the problem.</a:t>
            </a:r>
          </a:p>
          <a:p>
            <a:pPr marL="514350" indent="-514350" algn="just">
              <a:buAutoNum type="arabicPeriod"/>
            </a:pPr>
            <a:r>
              <a:rPr lang="en-US" dirty="0" smtClean="0"/>
              <a:t>Choose the best problem-solving technique and apply it to the particular problem.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Defining the problem as State Space Search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Consider the problem “Play Chess”.</a:t>
            </a:r>
          </a:p>
          <a:p>
            <a:r>
              <a:rPr lang="en-US" dirty="0" smtClean="0"/>
              <a:t>For solving the problem, specify:</a:t>
            </a:r>
          </a:p>
          <a:p>
            <a:pPr>
              <a:buNone/>
            </a:pPr>
            <a:r>
              <a:rPr lang="en-US" dirty="0" smtClean="0"/>
              <a:t>      - The starting position of the chess board.</a:t>
            </a:r>
          </a:p>
          <a:p>
            <a:pPr>
              <a:buNone/>
            </a:pPr>
            <a:r>
              <a:rPr lang="en-US" dirty="0" smtClean="0"/>
              <a:t>      - Rules that define legal moves.</a:t>
            </a:r>
          </a:p>
          <a:p>
            <a:pPr>
              <a:buNone/>
            </a:pPr>
            <a:r>
              <a:rPr lang="en-US" dirty="0" smtClean="0"/>
              <a:t>      - Board position that represents a win for </a:t>
            </a:r>
          </a:p>
          <a:p>
            <a:pPr>
              <a:buNone/>
            </a:pPr>
            <a:r>
              <a:rPr lang="en-US" dirty="0" smtClean="0"/>
              <a:t>        either side.</a:t>
            </a:r>
          </a:p>
          <a:p>
            <a:r>
              <a:rPr lang="en-US" dirty="0" smtClean="0"/>
              <a:t>Goal: Any board position in which the opponent  does not have a legal move and king is under attack.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Legal Move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276" y="2286000"/>
            <a:ext cx="7158324" cy="322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Legal Move…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Provides a way of getting from initial state to final state.</a:t>
            </a:r>
          </a:p>
          <a:p>
            <a:pPr algn="just"/>
            <a:r>
              <a:rPr lang="en-US" dirty="0" smtClean="0"/>
              <a:t>Consists of two parts: left side contains a pattern to be matched against current board position and right hand side the changes to board position to reflect the move. 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868996"/>
            <a:ext cx="4387614" cy="2160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Problem of “Play Chess” is thus defined as….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algn="just"/>
            <a:r>
              <a:rPr lang="en-US" dirty="0" smtClean="0"/>
              <a:t>Moving around in </a:t>
            </a:r>
            <a:r>
              <a:rPr lang="en-US" i="1" dirty="0" smtClean="0"/>
              <a:t>state space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Each state consists of a legal position of the board. </a:t>
            </a:r>
          </a:p>
          <a:p>
            <a:pPr algn="just"/>
            <a:r>
              <a:rPr lang="en-US" dirty="0" smtClean="0"/>
              <a:t>Consists of an initial state, a set of rules for moving from one state to other  and ending up in one of the final states.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Jug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two jugs of 4 gallon and 3 gallons without measuring markers.  </a:t>
            </a:r>
          </a:p>
          <a:p>
            <a:r>
              <a:rPr lang="en-US" dirty="0" smtClean="0"/>
              <a:t>Pump to fill the jugs with water.</a:t>
            </a:r>
          </a:p>
          <a:p>
            <a:r>
              <a:rPr lang="en-US" dirty="0" smtClean="0"/>
              <a:t>How can you get exactly 2 gallons of water into the 4 gallon jug?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4876800"/>
          </a:xfrm>
        </p:spPr>
        <p:txBody>
          <a:bodyPr/>
          <a:lstStyle/>
          <a:p>
            <a:pPr algn="just"/>
            <a:r>
              <a:rPr lang="en-US" dirty="0" smtClean="0"/>
              <a:t>State space defined as set of ordered pairs (x, y), where x=0,1,2,3 or 4 and y=0,1,2 or 3, x represents the number of gallons of water in the 4 gallon jug and y represents the number of gallons of water in the 3 gallon jug.</a:t>
            </a:r>
          </a:p>
          <a:p>
            <a:r>
              <a:rPr lang="en-US" dirty="0" smtClean="0"/>
              <a:t>Start state is (0,0).</a:t>
            </a:r>
          </a:p>
          <a:p>
            <a:r>
              <a:rPr lang="en-US" dirty="0" smtClean="0"/>
              <a:t>Goal state is (2,n).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06198"/>
            <a:ext cx="6934200" cy="644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2822" y="990600"/>
            <a:ext cx="5776520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In order to provide a formal description of the problem: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1. Define a state space that contains all the possible configurations of the relevant objects.</a:t>
            </a:r>
          </a:p>
          <a:p>
            <a:pPr>
              <a:buNone/>
            </a:pPr>
            <a:r>
              <a:rPr lang="en-US" dirty="0" smtClean="0"/>
              <a:t>2. Specify the initial state.</a:t>
            </a:r>
          </a:p>
          <a:p>
            <a:pPr>
              <a:buNone/>
            </a:pPr>
            <a:r>
              <a:rPr lang="en-US" dirty="0" smtClean="0"/>
              <a:t>3. Specify the goal states.</a:t>
            </a:r>
          </a:p>
          <a:p>
            <a:pPr>
              <a:buNone/>
            </a:pPr>
            <a:r>
              <a:rPr lang="en-US" dirty="0" smtClean="0"/>
              <a:t>4. Specify a set of rules that describe the actions (operators) available.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Production Systems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Are structures in AI programs for facilitating description and performing search process.</a:t>
            </a:r>
          </a:p>
          <a:p>
            <a:r>
              <a:rPr lang="en-US" dirty="0" smtClean="0"/>
              <a:t>A production system consists of</a:t>
            </a:r>
          </a:p>
          <a:p>
            <a:pPr>
              <a:buNone/>
            </a:pPr>
            <a:r>
              <a:rPr lang="en-US" dirty="0" smtClean="0"/>
              <a:t>     - A set of rules.</a:t>
            </a:r>
          </a:p>
          <a:p>
            <a:pPr>
              <a:buNone/>
            </a:pPr>
            <a:r>
              <a:rPr lang="en-US" dirty="0" smtClean="0"/>
              <a:t>     - One or more knowledge bases containing information appropriate to a particular task.</a:t>
            </a:r>
          </a:p>
          <a:p>
            <a:pPr>
              <a:buNone/>
            </a:pPr>
            <a:r>
              <a:rPr lang="en-US" dirty="0" smtClean="0"/>
              <a:t>     - A control strategy specifying the order in which rules are chosen.</a:t>
            </a:r>
          </a:p>
          <a:p>
            <a:pPr>
              <a:buNone/>
            </a:pPr>
            <a:r>
              <a:rPr lang="en-US" dirty="0" smtClean="0"/>
              <a:t>     - A rule applier.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Control Strategie</a:t>
            </a:r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1. The first requirement of a good control is that it causes motion.</a:t>
            </a:r>
          </a:p>
          <a:p>
            <a:pPr algn="just">
              <a:buNone/>
            </a:pPr>
            <a:r>
              <a:rPr lang="en-US" dirty="0" smtClean="0"/>
              <a:t>    Ex: Starting each time at the top of the list of rules and choosing the first applicable one.</a:t>
            </a:r>
          </a:p>
          <a:p>
            <a:pPr algn="just">
              <a:buNone/>
            </a:pPr>
            <a:r>
              <a:rPr lang="en-US" dirty="0" smtClean="0"/>
              <a:t>2. The second requirement of a good control strategy is that it be systematic.</a:t>
            </a:r>
          </a:p>
          <a:p>
            <a:pPr algn="just">
              <a:buNone/>
            </a:pPr>
            <a:r>
              <a:rPr lang="en-US" dirty="0" smtClean="0"/>
              <a:t>    Ex: On each cycle, choose at random from among the applicable rules.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66800"/>
            <a:ext cx="830579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314936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4597" y="1143000"/>
            <a:ext cx="487502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337" y="1371600"/>
            <a:ext cx="7815263" cy="346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524000"/>
            <a:ext cx="4832817" cy="332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Advantages of DFS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2895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1. DFS requires less memory since only the nodes on the current path are stored.</a:t>
            </a:r>
          </a:p>
          <a:p>
            <a:pPr algn="just">
              <a:buNone/>
            </a:pPr>
            <a:r>
              <a:rPr lang="en-US" dirty="0" smtClean="0"/>
              <a:t>2. By chance or otherwise DFS may find a solution  without examining much of the search space at all.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Advantages of BFS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124200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 smtClean="0"/>
              <a:t>BFS will not get trapped in a blind alley in contrast to DFS.</a:t>
            </a:r>
          </a:p>
          <a:p>
            <a:pPr marL="514350" indent="-514350" algn="just">
              <a:buAutoNum type="arabicPeriod"/>
            </a:pPr>
            <a:r>
              <a:rPr lang="en-US" dirty="0" smtClean="0"/>
              <a:t>If there is a solution BFS is guaranteed to find it. Further if there are multiple solutions BFS is guaranteed to find the optimal of them.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The Travelling Salesperson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r>
              <a:rPr lang="en-US" dirty="0" smtClean="0"/>
              <a:t>A salesman has a list of cities which he must visit exactly once.</a:t>
            </a:r>
          </a:p>
          <a:p>
            <a:r>
              <a:rPr lang="en-US" dirty="0" smtClean="0"/>
              <a:t>There are direct routes between each pair of cities.</a:t>
            </a:r>
          </a:p>
          <a:p>
            <a:r>
              <a:rPr lang="en-US" dirty="0" smtClean="0"/>
              <a:t>Find the route that should be followed so that the distance covered should be minimal.</a:t>
            </a:r>
          </a:p>
          <a:p>
            <a:r>
              <a:rPr lang="en-US" dirty="0" smtClean="0"/>
              <a:t>The number of possible paths are explored between N cities is (N-1)!. </a:t>
            </a:r>
          </a:p>
          <a:p>
            <a:r>
              <a:rPr lang="en-US" dirty="0" smtClean="0"/>
              <a:t>This is called combinatorial explosion.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Heuristic Search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Used for solving difficult problems.</a:t>
            </a:r>
          </a:p>
          <a:p>
            <a:pPr algn="just"/>
            <a:r>
              <a:rPr lang="en-US" dirty="0" smtClean="0"/>
              <a:t>Compromise mobility and </a:t>
            </a:r>
            <a:r>
              <a:rPr lang="en-US" dirty="0" err="1" smtClean="0"/>
              <a:t>systematicity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Does not always find the best answer but always finds a very good answer.</a:t>
            </a:r>
          </a:p>
          <a:p>
            <a:pPr algn="just"/>
            <a:r>
              <a:rPr lang="en-US" dirty="0" smtClean="0"/>
              <a:t>Example: Nearest Neighbor Heuristic for solving TSP.</a:t>
            </a:r>
          </a:p>
          <a:p>
            <a:pPr algn="just"/>
            <a:r>
              <a:rPr lang="en-US" dirty="0" smtClean="0"/>
              <a:t>Time complexity: order of N</a:t>
            </a:r>
            <a:r>
              <a:rPr lang="en-US" baseline="30000" dirty="0" smtClean="0"/>
              <a:t>2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229600" cy="2172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Heuristics improves upon the solution to the problem by removing combinatorial explosion.</a:t>
            </a:r>
          </a:p>
          <a:p>
            <a:pPr algn="just"/>
            <a:r>
              <a:rPr lang="en-US" dirty="0" smtClean="0"/>
              <a:t>Other advantages are:</a:t>
            </a:r>
          </a:p>
          <a:p>
            <a:pPr algn="just">
              <a:buNone/>
            </a:pPr>
            <a:r>
              <a:rPr lang="en-US" dirty="0" smtClean="0"/>
              <a:t>     - Rarely do we need optimal solution. A good approximation usually serves very well.</a:t>
            </a:r>
          </a:p>
          <a:p>
            <a:pPr algn="just">
              <a:buNone/>
            </a:pPr>
            <a:r>
              <a:rPr lang="en-US" dirty="0" smtClean="0"/>
              <a:t>     Ex: Parking space.</a:t>
            </a:r>
          </a:p>
          <a:p>
            <a:pPr algn="just">
              <a:buNone/>
            </a:pPr>
            <a:r>
              <a:rPr lang="en-US" dirty="0" smtClean="0"/>
              <a:t>     - Heuristics may not produce best results in worst cases but worst cases hardly arise in real world.</a:t>
            </a:r>
          </a:p>
          <a:p>
            <a:pPr algn="just">
              <a:buNone/>
            </a:pPr>
            <a:r>
              <a:rPr lang="en-US" dirty="0" smtClean="0"/>
              <a:t>      -Leads to better understanding of the problem.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a function that maps from problem state description to measures of desirability, usually represented as real numbers.</a:t>
            </a:r>
          </a:p>
          <a:p>
            <a:r>
              <a:rPr lang="en-US" dirty="0" smtClean="0"/>
              <a:t>Plays an important role in guiding the search process towards a solution.</a:t>
            </a:r>
          </a:p>
          <a:p>
            <a:r>
              <a:rPr lang="en-US" dirty="0" smtClean="0"/>
              <a:t>Example: For a TSP the sum of distances </a:t>
            </a:r>
            <a:r>
              <a:rPr lang="en-US" smtClean="0"/>
              <a:t>so far.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581400"/>
          </a:xfrm>
        </p:spPr>
        <p:txBody>
          <a:bodyPr/>
          <a:lstStyle/>
          <a:p>
            <a:pPr algn="just"/>
            <a:r>
              <a:rPr lang="en-US" dirty="0" smtClean="0"/>
              <a:t>Heuristic Search –a very general method applicable to large class of problems.</a:t>
            </a:r>
          </a:p>
          <a:p>
            <a:pPr algn="just"/>
            <a:r>
              <a:rPr lang="en-US" dirty="0" smtClean="0"/>
              <a:t>Consists of a wide variety of techniques which are applicable based on problem domain.</a:t>
            </a:r>
          </a:p>
          <a:p>
            <a:pPr algn="just"/>
            <a:r>
              <a:rPr lang="en-US" dirty="0" smtClean="0"/>
              <a:t>For this problems are to be analyzed along key dimensions.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Is the Problem decomposable?</a:t>
            </a:r>
            <a:endParaRPr lang="en-US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1" y="1524000"/>
            <a:ext cx="6324600" cy="479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Blocks World</a:t>
            </a:r>
            <a:endParaRPr lang="en-US" sz="320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4343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057400"/>
            <a:ext cx="344805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199"/>
            <a:ext cx="5943600" cy="361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Can Solution Steps be ignored or Undone?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/>
              <a:t>Suppose we are trying to prove a mathematical theorem. Every time we make a mistake we can ignore and correct it.</a:t>
            </a:r>
          </a:p>
          <a:p>
            <a:pPr algn="just"/>
            <a:r>
              <a:rPr lang="en-US" sz="2800" dirty="0" smtClean="0"/>
              <a:t>Suppose we are trying to solve the 8-puzzle problem. If we make a mistake we can backtrack and solve it.</a:t>
            </a:r>
          </a:p>
          <a:p>
            <a:pPr algn="just"/>
            <a:r>
              <a:rPr lang="en-US" sz="2800" dirty="0" smtClean="0"/>
              <a:t>Now consider the game of chess. If a bad move is made it cannot be undone or backtracked.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1" y="1063018"/>
            <a:ext cx="5791200" cy="4353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just"/>
            <a:r>
              <a:rPr lang="en-US" dirty="0" smtClean="0"/>
              <a:t>There are thus three class of problems:</a:t>
            </a:r>
          </a:p>
          <a:p>
            <a:pPr algn="just">
              <a:buNone/>
            </a:pPr>
            <a:r>
              <a:rPr lang="en-US" dirty="0" smtClean="0"/>
              <a:t>    - Ignorable, in which solution steps can be ignored. It can be solved by a simple control structure that never backtracks.</a:t>
            </a:r>
          </a:p>
          <a:p>
            <a:pPr algn="just">
              <a:buNone/>
            </a:pPr>
            <a:r>
              <a:rPr lang="en-US" dirty="0" smtClean="0"/>
              <a:t>    - Recoverable, in which solution steps can </a:t>
            </a:r>
            <a:r>
              <a:rPr lang="en-US" smtClean="0"/>
              <a:t>be </a:t>
            </a:r>
            <a:r>
              <a:rPr lang="en-US" smtClean="0"/>
              <a:t>undone</a:t>
            </a:r>
            <a:r>
              <a:rPr lang="en-US" smtClean="0"/>
              <a:t>. </a:t>
            </a:r>
            <a:r>
              <a:rPr lang="en-US" dirty="0" smtClean="0"/>
              <a:t>Backtracking is necessary to recover from errors.</a:t>
            </a:r>
          </a:p>
          <a:p>
            <a:pPr algn="just">
              <a:buNone/>
            </a:pPr>
            <a:r>
              <a:rPr lang="en-US" dirty="0" smtClean="0"/>
              <a:t>     - Irrecoverable, in which solution steps cannot be undone. These system take a lot of time for the planning process.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Is the Universe Predictable?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334000"/>
          </a:xfrm>
        </p:spPr>
        <p:txBody>
          <a:bodyPr/>
          <a:lstStyle/>
          <a:p>
            <a:pPr algn="just"/>
            <a:r>
              <a:rPr lang="en-US" dirty="0" smtClean="0"/>
              <a:t>For a 8-puzzle game it is possible to plan an entire sequence of moves (certain outcome problems).</a:t>
            </a:r>
          </a:p>
          <a:p>
            <a:pPr algn="just"/>
            <a:r>
              <a:rPr lang="en-US" dirty="0" smtClean="0"/>
              <a:t>For a game of chess it is not possible with certainty to plan the sequence of moves since moves of other players are not known in advance (uncertain outcome problems).</a:t>
            </a:r>
          </a:p>
          <a:p>
            <a:pPr algn="just"/>
            <a:r>
              <a:rPr lang="en-US" dirty="0" smtClean="0"/>
              <a:t>Helping a lawyer decide how to protect his client against murder charge is an example of irrecoverable uncertain outcome problems.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Is a good solution absolute or relative?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2971800" cy="4830763"/>
          </a:xfrm>
        </p:spPr>
        <p:txBody>
          <a:bodyPr/>
          <a:lstStyle/>
          <a:p>
            <a:pPr algn="just"/>
            <a:r>
              <a:rPr lang="en-US" dirty="0" smtClean="0"/>
              <a:t>Consider the simple facts shown on the right.</a:t>
            </a:r>
          </a:p>
          <a:p>
            <a:pPr algn="just"/>
            <a:r>
              <a:rPr lang="en-US" dirty="0" smtClean="0"/>
              <a:t>Question is asked “Is Marcus alive?”</a:t>
            </a:r>
          </a:p>
          <a:p>
            <a:pPr algn="just"/>
            <a:r>
              <a:rPr lang="en-US" dirty="0" smtClean="0"/>
              <a:t>Several ways of deciding that Marcus is dead.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905000"/>
            <a:ext cx="5029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ways are…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622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667000"/>
            <a:ext cx="4038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3124200"/>
          </a:xfrm>
        </p:spPr>
        <p:txBody>
          <a:bodyPr/>
          <a:lstStyle/>
          <a:p>
            <a:pPr algn="just"/>
            <a:r>
              <a:rPr lang="en-US" dirty="0" smtClean="0"/>
              <a:t>But in case of TSP the shortest route is the only solution to the problem.</a:t>
            </a:r>
          </a:p>
          <a:p>
            <a:pPr algn="just"/>
            <a:r>
              <a:rPr lang="en-US" dirty="0" smtClean="0"/>
              <a:t>Thus reasoning problem is an example of any path problem whereas TSP is an example of best path problem.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What is the role of knowledge?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43400"/>
          </a:xfrm>
        </p:spPr>
        <p:txBody>
          <a:bodyPr/>
          <a:lstStyle/>
          <a:p>
            <a:pPr algn="just"/>
            <a:r>
              <a:rPr lang="en-US" dirty="0" smtClean="0"/>
              <a:t>For playing chess a limited amount of knowledge is required for determining the legal moves and implementing simple control mechanisms.</a:t>
            </a:r>
          </a:p>
          <a:p>
            <a:pPr algn="just"/>
            <a:r>
              <a:rPr lang="en-US" dirty="0" smtClean="0"/>
              <a:t>But for determining which newspapers support which candidates in the elections a lot of knowledge is required even for recognizing the solution.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Does the task require interaction with a person?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458200" cy="4648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500" dirty="0" smtClean="0"/>
              <a:t>Consider the problem of proving mathematical theorems. If</a:t>
            </a:r>
          </a:p>
          <a:p>
            <a:pPr algn="just">
              <a:buNone/>
            </a:pPr>
            <a:r>
              <a:rPr lang="en-US" sz="3500" dirty="0" smtClean="0"/>
              <a:t>    1. All we want to know that there is a proof.</a:t>
            </a:r>
          </a:p>
          <a:p>
            <a:pPr algn="just">
              <a:buNone/>
            </a:pPr>
            <a:r>
              <a:rPr lang="en-US" sz="3500" dirty="0" smtClean="0"/>
              <a:t>    2. The program is capable of finding a proof by itself.</a:t>
            </a:r>
          </a:p>
          <a:p>
            <a:pPr algn="just">
              <a:buNone/>
            </a:pPr>
            <a:r>
              <a:rPr lang="en-US" sz="3500" dirty="0" smtClean="0"/>
              <a:t>    then it does not matter what strategy the program takes to find the proof. </a:t>
            </a:r>
          </a:p>
          <a:p>
            <a:pPr algn="just"/>
            <a:r>
              <a:rPr lang="en-US" sz="3500" dirty="0" smtClean="0"/>
              <a:t>Alternatively finding the proof may be sufficiently difficult so that the program does not know where to start from.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There are thus two classes of problems: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4038600"/>
          </a:xfrm>
        </p:spPr>
        <p:txBody>
          <a:bodyPr/>
          <a:lstStyle/>
          <a:p>
            <a:pPr algn="just"/>
            <a:r>
              <a:rPr lang="en-US" dirty="0" smtClean="0"/>
              <a:t>Solitary, in which the computer is given a problem description and produces an answer with no intermediate communication.</a:t>
            </a:r>
          </a:p>
          <a:p>
            <a:pPr algn="just"/>
            <a:r>
              <a:rPr lang="en-US" dirty="0" smtClean="0"/>
              <a:t>Conversational, in which there is an intermediate communication between a person and a computer for providing additional assistance.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Issues in the design of search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algn="just"/>
            <a:r>
              <a:rPr lang="en-US" dirty="0" smtClean="0"/>
              <a:t>Direction of search: forward vs. backward reasoning (Initial to goal state or vice versa). </a:t>
            </a:r>
          </a:p>
          <a:p>
            <a:pPr algn="just"/>
            <a:r>
              <a:rPr lang="en-US" dirty="0" smtClean="0"/>
              <a:t>How to select appropriate matching rules (Importance of search procedure).</a:t>
            </a:r>
          </a:p>
          <a:p>
            <a:pPr algn="just"/>
            <a:r>
              <a:rPr lang="en-US" dirty="0" smtClean="0"/>
              <a:t>How to represent each node in the search process (Knowledge representation problem and the frame problem).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229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0"/>
            <a:ext cx="4038600" cy="281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514600"/>
            <a:ext cx="4038600" cy="2895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1414</Words>
  <Application>Microsoft Office PowerPoint</Application>
  <PresentationFormat>On-screen Show (4:3)</PresentationFormat>
  <Paragraphs>116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Problems, Problem Spaces, and Search</vt:lpstr>
      <vt:lpstr>To Solve a problem….</vt:lpstr>
      <vt:lpstr>Defining the problem as State Space Search</vt:lpstr>
      <vt:lpstr>A Legal Move</vt:lpstr>
      <vt:lpstr>Legal Move…</vt:lpstr>
      <vt:lpstr>Problem of “Play Chess” is thus defined as…. </vt:lpstr>
      <vt:lpstr>Water Jug Problem</vt:lpstr>
      <vt:lpstr>Slide 8</vt:lpstr>
      <vt:lpstr>Slide 9</vt:lpstr>
      <vt:lpstr>Slide 10</vt:lpstr>
      <vt:lpstr>In order to provide a formal description of the problem:</vt:lpstr>
      <vt:lpstr>Production Systems</vt:lpstr>
      <vt:lpstr>Control Strategies</vt:lpstr>
      <vt:lpstr>Slide 14</vt:lpstr>
      <vt:lpstr>Slide 15</vt:lpstr>
      <vt:lpstr>Slide 16</vt:lpstr>
      <vt:lpstr>Slide 17</vt:lpstr>
      <vt:lpstr>Advantages of DFS</vt:lpstr>
      <vt:lpstr>Advantages of BFS</vt:lpstr>
      <vt:lpstr>The Travelling Salesperson Problem</vt:lpstr>
      <vt:lpstr>Heuristic Search</vt:lpstr>
      <vt:lpstr>Slide 22</vt:lpstr>
      <vt:lpstr>Slide 23</vt:lpstr>
      <vt:lpstr>Heuristic Function</vt:lpstr>
      <vt:lpstr>Problem Characteristics</vt:lpstr>
      <vt:lpstr>Is the Problem decomposable?</vt:lpstr>
      <vt:lpstr>Blocks World</vt:lpstr>
      <vt:lpstr>Slide 28</vt:lpstr>
      <vt:lpstr>Can Solution Steps be ignored or Undone?</vt:lpstr>
      <vt:lpstr>Slide 30</vt:lpstr>
      <vt:lpstr>Slide 31</vt:lpstr>
      <vt:lpstr>Is the Universe Predictable?</vt:lpstr>
      <vt:lpstr>Is a good solution absolute or relative?</vt:lpstr>
      <vt:lpstr>Two ways are…</vt:lpstr>
      <vt:lpstr>Slide 35</vt:lpstr>
      <vt:lpstr>What is the role of knowledge?</vt:lpstr>
      <vt:lpstr>Does the task require interaction with a person? </vt:lpstr>
      <vt:lpstr>There are thus two classes of problems:</vt:lpstr>
      <vt:lpstr>Issues in the design of search program</vt:lpstr>
      <vt:lpstr>Slide 40</vt:lpstr>
      <vt:lpstr>Slide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Problems, Problem Spaces, and Search</dc:title>
  <dc:creator>anal</dc:creator>
  <cp:lastModifiedBy>Anal</cp:lastModifiedBy>
  <cp:revision>62</cp:revision>
  <dcterms:created xsi:type="dcterms:W3CDTF">2006-08-16T00:00:00Z</dcterms:created>
  <dcterms:modified xsi:type="dcterms:W3CDTF">2022-02-24T12:27:01Z</dcterms:modified>
</cp:coreProperties>
</file>