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53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ka" userId="665b0fef3765d715" providerId="LiveId" clId="{2087DACA-FF01-4B45-A4F0-A5D2D1440525}"/>
    <pc:docChg chg="custSel modSld">
      <pc:chgData name="Anushka" userId="665b0fef3765d715" providerId="LiveId" clId="{2087DACA-FF01-4B45-A4F0-A5D2D1440525}" dt="2021-04-06T05:59:38.529" v="11" actId="27636"/>
      <pc:docMkLst>
        <pc:docMk/>
      </pc:docMkLst>
      <pc:sldChg chg="modSp setBg">
        <pc:chgData name="Anushka" userId="665b0fef3765d715" providerId="LiveId" clId="{2087DACA-FF01-4B45-A4F0-A5D2D1440525}" dt="2021-04-06T05:59:38.307" v="8"/>
        <pc:sldMkLst>
          <pc:docMk/>
          <pc:sldMk cId="0" sldId="257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Anushka" userId="665b0fef3765d715" providerId="LiveId" clId="{2087DACA-FF01-4B45-A4F0-A5D2D1440525}" dt="2021-04-06T05:59:38.307" v="8"/>
        <pc:sldMkLst>
          <pc:docMk/>
          <pc:sldMk cId="0" sldId="258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58"/>
            <ac:spMk id="2" creationId="{00000000-0000-0000-0000-000000000000}"/>
          </ac:spMkLst>
        </pc:spChg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59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59"/>
            <ac:spMk id="2" creationId="{00000000-0000-0000-0000-000000000000}"/>
          </ac:spMkLst>
        </pc:spChg>
        <pc:picChg chg="mod">
          <ac:chgData name="Anushka" userId="665b0fef3765d715" providerId="LiveId" clId="{2087DACA-FF01-4B45-A4F0-A5D2D1440525}" dt="2021-04-06T05:59:38.307" v="8"/>
          <ac:picMkLst>
            <pc:docMk/>
            <pc:sldMk cId="0" sldId="259"/>
            <ac:picMk id="1026" creationId="{00000000-0000-0000-0000-000000000000}"/>
          </ac:picMkLst>
        </pc:pic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60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60"/>
            <ac:spMk id="2" creationId="{00000000-0000-0000-0000-000000000000}"/>
          </ac:spMkLst>
        </pc:spChg>
        <pc:picChg chg="mod">
          <ac:chgData name="Anushka" userId="665b0fef3765d715" providerId="LiveId" clId="{2087DACA-FF01-4B45-A4F0-A5D2D1440525}" dt="2021-04-06T05:59:38.307" v="8"/>
          <ac:picMkLst>
            <pc:docMk/>
            <pc:sldMk cId="0" sldId="260"/>
            <ac:picMk id="2051" creationId="{00000000-0000-0000-0000-000000000000}"/>
          </ac:picMkLst>
        </pc:pic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61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61"/>
            <ac:spMk id="2" creationId="{00000000-0000-0000-0000-000000000000}"/>
          </ac:spMkLst>
        </pc:sp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62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62"/>
            <ac:spMk id="2" creationId="{00000000-0000-0000-0000-000000000000}"/>
          </ac:spMkLst>
        </pc:spChg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66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66"/>
            <ac:spMk id="2" creationId="{00000000-0000-0000-0000-000000000000}"/>
          </ac:spMkLst>
        </pc:spChg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68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68"/>
            <ac:spMk id="2" creationId="{00000000-0000-0000-0000-000000000000}"/>
          </ac:spMkLst>
        </pc:spChg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68"/>
            <ac:spMk id="3" creationId="{00000000-0000-0000-0000-000000000000}"/>
          </ac:spMkLst>
        </pc:sp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73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73"/>
            <ac:spMk id="2" creationId="{00000000-0000-0000-0000-000000000000}"/>
          </ac:spMkLst>
        </pc:sp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75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75"/>
            <ac:spMk id="2" creationId="{00000000-0000-0000-0000-000000000000}"/>
          </ac:spMkLst>
        </pc:sp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76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76"/>
            <ac:spMk id="2" creationId="{00000000-0000-0000-0000-000000000000}"/>
          </ac:spMkLst>
        </pc:spChg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Anushka" userId="665b0fef3765d715" providerId="LiveId" clId="{2087DACA-FF01-4B45-A4F0-A5D2D1440525}" dt="2021-04-06T05:59:01.396" v="4" actId="27636"/>
        <pc:sldMkLst>
          <pc:docMk/>
          <pc:sldMk cId="0" sldId="278"/>
        </pc:sldMkLst>
        <pc:spChg chg="mod">
          <ac:chgData name="Anushka" userId="665b0fef3765d715" providerId="LiveId" clId="{2087DACA-FF01-4B45-A4F0-A5D2D1440525}" dt="2021-04-06T05:59:01.396" v="4" actId="27636"/>
          <ac:spMkLst>
            <pc:docMk/>
            <pc:sldMk cId="0" sldId="278"/>
            <ac:spMk id="3" creationId="{00000000-0000-0000-0000-000000000000}"/>
          </ac:spMkLst>
        </pc:sp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79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79"/>
            <ac:spMk id="2" creationId="{00000000-0000-0000-0000-000000000000}"/>
          </ac:spMkLst>
        </pc:spChg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79"/>
            <ac:spMk id="3" creationId="{00000000-0000-0000-0000-000000000000}"/>
          </ac:spMkLst>
        </pc:sp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80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80"/>
            <ac:spMk id="2" creationId="{00000000-0000-0000-0000-000000000000}"/>
          </ac:spMkLst>
        </pc:sp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82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82"/>
            <ac:spMk id="2" creationId="{00000000-0000-0000-0000-000000000000}"/>
          </ac:spMkLst>
        </pc:spChg>
        <pc:picChg chg="mod">
          <ac:chgData name="Anushka" userId="665b0fef3765d715" providerId="LiveId" clId="{2087DACA-FF01-4B45-A4F0-A5D2D1440525}" dt="2021-04-06T05:59:38.307" v="8"/>
          <ac:picMkLst>
            <pc:docMk/>
            <pc:sldMk cId="0" sldId="282"/>
            <ac:picMk id="1026" creationId="{00000000-0000-0000-0000-000000000000}"/>
          </ac:picMkLst>
        </pc:picChg>
      </pc:sldChg>
      <pc:sldChg chg="modSp mod">
        <pc:chgData name="Anushka" userId="665b0fef3765d715" providerId="LiveId" clId="{2087DACA-FF01-4B45-A4F0-A5D2D1440525}" dt="2021-04-06T05:59:38.508" v="9" actId="27636"/>
        <pc:sldMkLst>
          <pc:docMk/>
          <pc:sldMk cId="0" sldId="285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85"/>
            <ac:spMk id="2" creationId="{00000000-0000-0000-0000-000000000000}"/>
          </ac:spMkLst>
        </pc:spChg>
        <pc:spChg chg="mod">
          <ac:chgData name="Anushka" userId="665b0fef3765d715" providerId="LiveId" clId="{2087DACA-FF01-4B45-A4F0-A5D2D1440525}" dt="2021-04-06T05:59:38.508" v="9" actId="27636"/>
          <ac:spMkLst>
            <pc:docMk/>
            <pc:sldMk cId="0" sldId="285"/>
            <ac:spMk id="3" creationId="{00000000-0000-0000-0000-000000000000}"/>
          </ac:spMkLst>
        </pc:spChg>
      </pc:sldChg>
      <pc:sldChg chg="modSp mod">
        <pc:chgData name="Anushka" userId="665b0fef3765d715" providerId="LiveId" clId="{2087DACA-FF01-4B45-A4F0-A5D2D1440525}" dt="2021-04-06T05:59:38.516" v="10" actId="27636"/>
        <pc:sldMkLst>
          <pc:docMk/>
          <pc:sldMk cId="0" sldId="288"/>
        </pc:sldMkLst>
        <pc:spChg chg="mod">
          <ac:chgData name="Anushka" userId="665b0fef3765d715" providerId="LiveId" clId="{2087DACA-FF01-4B45-A4F0-A5D2D1440525}" dt="2021-04-06T05:59:38.516" v="10" actId="27636"/>
          <ac:spMkLst>
            <pc:docMk/>
            <pc:sldMk cId="0" sldId="288"/>
            <ac:spMk id="2" creationId="{00000000-0000-0000-0000-000000000000}"/>
          </ac:spMkLst>
        </pc:sp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89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89"/>
            <ac:spMk id="2" creationId="{00000000-0000-0000-0000-000000000000}"/>
          </ac:spMkLst>
        </pc:spChg>
      </pc:sldChg>
      <pc:sldChg chg="modSp mod">
        <pc:chgData name="Anushka" userId="665b0fef3765d715" providerId="LiveId" clId="{2087DACA-FF01-4B45-A4F0-A5D2D1440525}" dt="2021-04-06T05:59:38.529" v="11" actId="27636"/>
        <pc:sldMkLst>
          <pc:docMk/>
          <pc:sldMk cId="0" sldId="292"/>
        </pc:sldMkLst>
        <pc:spChg chg="mod">
          <ac:chgData name="Anushka" userId="665b0fef3765d715" providerId="LiveId" clId="{2087DACA-FF01-4B45-A4F0-A5D2D1440525}" dt="2021-04-06T05:59:38.529" v="11" actId="27636"/>
          <ac:spMkLst>
            <pc:docMk/>
            <pc:sldMk cId="0" sldId="292"/>
            <ac:spMk id="3" creationId="{00000000-0000-0000-0000-000000000000}"/>
          </ac:spMkLst>
        </pc:spChg>
      </pc:sldChg>
      <pc:sldChg chg="modSp mod">
        <pc:chgData name="Anushka" userId="665b0fef3765d715" providerId="LiveId" clId="{2087DACA-FF01-4B45-A4F0-A5D2D1440525}" dt="2021-04-06T05:59:38.307" v="8"/>
        <pc:sldMkLst>
          <pc:docMk/>
          <pc:sldMk cId="0" sldId="294"/>
        </pc:sldMkLst>
        <pc:spChg chg="mod">
          <ac:chgData name="Anushka" userId="665b0fef3765d715" providerId="LiveId" clId="{2087DACA-FF01-4B45-A4F0-A5D2D1440525}" dt="2021-04-06T05:59:38.307" v="8"/>
          <ac:spMkLst>
            <pc:docMk/>
            <pc:sldMk cId="0" sldId="294"/>
            <ac:spMk id="2" creationId="{00000000-0000-0000-0000-000000000000}"/>
          </ac:spMkLst>
        </pc:spChg>
      </pc:sldChg>
      <pc:sldChg chg="modSp">
        <pc:chgData name="Anushka" userId="665b0fef3765d715" providerId="LiveId" clId="{2087DACA-FF01-4B45-A4F0-A5D2D1440525}" dt="2021-04-06T05:59:38.307" v="8"/>
        <pc:sldMkLst>
          <pc:docMk/>
          <pc:sldMk cId="0" sldId="296"/>
        </pc:sldMkLst>
        <pc:picChg chg="mod">
          <ac:chgData name="Anushka" userId="665b0fef3765d715" providerId="LiveId" clId="{2087DACA-FF01-4B45-A4F0-A5D2D1440525}" dt="2021-04-06T05:59:38.307" v="8"/>
          <ac:picMkLst>
            <pc:docMk/>
            <pc:sldMk cId="0" sldId="296"/>
            <ac:picMk id="4099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8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6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4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4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9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25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39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31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3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01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7414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01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17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85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63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67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453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1201"/>
            <a:ext cx="7772400" cy="1828800"/>
          </a:xfrm>
        </p:spPr>
        <p:txBody>
          <a:bodyPr/>
          <a:lstStyle/>
          <a:p>
            <a:r>
              <a:rPr lang="en-US" dirty="0"/>
              <a:t>Problems, Problem Spaces, and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Solve a problem….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pPr marL="514350" indent="-514350" algn="just">
              <a:buAutoNum type="arabicPeriod"/>
            </a:pPr>
            <a:r>
              <a:rPr lang="en-US" dirty="0"/>
              <a:t>Define the problem precisely.</a:t>
            </a:r>
          </a:p>
          <a:p>
            <a:pPr marL="514350" indent="-514350" algn="just">
              <a:buAutoNum type="arabicPeriod"/>
            </a:pPr>
            <a:r>
              <a:rPr lang="en-US" dirty="0"/>
              <a:t>Analyze the problem.</a:t>
            </a:r>
          </a:p>
          <a:p>
            <a:pPr marL="514350" indent="-514350" algn="just">
              <a:buAutoNum type="arabicPeriod"/>
            </a:pPr>
            <a:r>
              <a:rPr lang="en-US" dirty="0"/>
              <a:t>Isolate and represent the task knowledge that is necessary to solve the problem.</a:t>
            </a:r>
          </a:p>
          <a:p>
            <a:pPr marL="514350" indent="-514350" algn="just">
              <a:buAutoNum type="arabicPeriod"/>
            </a:pPr>
            <a:r>
              <a:rPr lang="en-US" dirty="0"/>
              <a:t>Choose the best problem-solving technique and apply it to the particular problem.</a:t>
            </a:r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Defining the problem as State Space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the problem “Play Chess”.</a:t>
            </a:r>
          </a:p>
          <a:p>
            <a:r>
              <a:rPr lang="en-US" dirty="0"/>
              <a:t>For solving the problem, specify:</a:t>
            </a:r>
          </a:p>
          <a:p>
            <a:pPr>
              <a:buNone/>
            </a:pPr>
            <a:r>
              <a:rPr lang="en-US" dirty="0"/>
              <a:t>      - The starting position of the chess board.</a:t>
            </a:r>
          </a:p>
          <a:p>
            <a:pPr>
              <a:buNone/>
            </a:pPr>
            <a:r>
              <a:rPr lang="en-US" dirty="0"/>
              <a:t>      - Rules that define legal moves.</a:t>
            </a:r>
          </a:p>
          <a:p>
            <a:pPr>
              <a:buNone/>
            </a:pPr>
            <a:r>
              <a:rPr lang="en-US" dirty="0"/>
              <a:t>      - Board position that represents a win for </a:t>
            </a:r>
          </a:p>
          <a:p>
            <a:pPr>
              <a:buNone/>
            </a:pPr>
            <a:r>
              <a:rPr lang="en-US" dirty="0"/>
              <a:t>        either side.</a:t>
            </a:r>
          </a:p>
          <a:p>
            <a:r>
              <a:rPr lang="en-US" dirty="0"/>
              <a:t>Goal: Any board position in which the opponent  does not have a legal move and king is under attack.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Legal Move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487488" y="2936081"/>
            <a:ext cx="5391150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679" y="494988"/>
            <a:ext cx="7055380" cy="1400530"/>
          </a:xfrm>
        </p:spPr>
        <p:txBody>
          <a:bodyPr/>
          <a:lstStyle/>
          <a:p>
            <a:r>
              <a:rPr lang="en-US" dirty="0"/>
              <a:t>Legal Move…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Provides a way of getting from initial state to final state.</a:t>
            </a:r>
          </a:p>
          <a:p>
            <a:pPr algn="just"/>
            <a:r>
              <a:rPr lang="en-US" dirty="0"/>
              <a:t>Consists of two parts: left side contains a pattern to be matched against current board position and right hand side the changes to board position to reflect the move. 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029200" y="4038600"/>
            <a:ext cx="3298825" cy="1624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Problem of “Play Chess” is thus defined as….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pPr algn="just"/>
            <a:r>
              <a:rPr lang="en-US" dirty="0"/>
              <a:t>Moving around in </a:t>
            </a:r>
            <a:r>
              <a:rPr lang="en-US" i="1" dirty="0"/>
              <a:t>state space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Each state consists of a legal position of the board. </a:t>
            </a:r>
          </a:p>
          <a:p>
            <a:pPr algn="just"/>
            <a:r>
              <a:rPr lang="en-US" dirty="0"/>
              <a:t>Consists of an initial state, a set of rules for moving from one state to other  and ending up in one of the final states.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Jug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two jugs of 4 gallon and 3 gallons without measuring markers.  </a:t>
            </a:r>
          </a:p>
          <a:p>
            <a:r>
              <a:rPr lang="en-US" dirty="0"/>
              <a:t>Pump to fill the jugs with water.</a:t>
            </a:r>
          </a:p>
          <a:p>
            <a:r>
              <a:rPr lang="en-US" dirty="0"/>
              <a:t>How can you get exactly 2 gallons of water into the 4 gallon jug?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4876800"/>
          </a:xfrm>
        </p:spPr>
        <p:txBody>
          <a:bodyPr/>
          <a:lstStyle/>
          <a:p>
            <a:pPr algn="just"/>
            <a:r>
              <a:rPr lang="en-US" dirty="0"/>
              <a:t>State space defined as set of ordered pairs (x, y), where x=0,1,2,3 or 4 and y=0,1,2 or 3, x represents the number of gallons of water in the 4 gallon jug and y represents the number of gallons of water in the 3 gallon jug.</a:t>
            </a:r>
          </a:p>
          <a:p>
            <a:r>
              <a:rPr lang="en-US" dirty="0"/>
              <a:t>Start state is (0,0).</a:t>
            </a:r>
          </a:p>
          <a:p>
            <a:r>
              <a:rPr lang="en-US" dirty="0"/>
              <a:t>Goal state is (2,n).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06198"/>
            <a:ext cx="6934200" cy="644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2822" y="990600"/>
            <a:ext cx="5776520" cy="457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In order to provide a formal description of the problem: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1. Define a state space that contains all the possible configurations of the relevant objects.</a:t>
            </a:r>
          </a:p>
          <a:p>
            <a:pPr>
              <a:buNone/>
            </a:pPr>
            <a:r>
              <a:rPr lang="en-US" dirty="0"/>
              <a:t>2. Specify the initial state.</a:t>
            </a:r>
          </a:p>
          <a:p>
            <a:pPr>
              <a:buNone/>
            </a:pPr>
            <a:r>
              <a:rPr lang="en-US" dirty="0"/>
              <a:t>3. Specify the goal states.</a:t>
            </a:r>
          </a:p>
          <a:p>
            <a:pPr>
              <a:buNone/>
            </a:pPr>
            <a:r>
              <a:rPr lang="en-US" dirty="0"/>
              <a:t>4. Specify a set of rules that describe the actions (operators)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dirty="0"/>
              <a:t>Production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/>
              <a:t>Are structures in AI programs for facilitating description and performing search process.</a:t>
            </a:r>
          </a:p>
          <a:p>
            <a:r>
              <a:rPr lang="en-US" dirty="0"/>
              <a:t>A production system consists of</a:t>
            </a:r>
          </a:p>
          <a:p>
            <a:pPr>
              <a:buNone/>
            </a:pPr>
            <a:r>
              <a:rPr lang="en-US" dirty="0"/>
              <a:t>     - A set of rules.</a:t>
            </a:r>
          </a:p>
          <a:p>
            <a:pPr>
              <a:buNone/>
            </a:pPr>
            <a:r>
              <a:rPr lang="en-US" dirty="0"/>
              <a:t>     - One or more knowledge bases containing information appropriate to a particular task.</a:t>
            </a:r>
          </a:p>
          <a:p>
            <a:pPr>
              <a:buNone/>
            </a:pPr>
            <a:r>
              <a:rPr lang="en-US" dirty="0"/>
              <a:t>     - A control strategy specifying the order in which rules are chosen.</a:t>
            </a:r>
          </a:p>
          <a:p>
            <a:pPr>
              <a:buNone/>
            </a:pPr>
            <a:r>
              <a:rPr lang="en-US" dirty="0"/>
              <a:t>     - A rule applier.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Control Strategie</a:t>
            </a:r>
            <a:r>
              <a:rPr lang="en-US" dirty="0"/>
              <a:t>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/>
              <a:t>1. The first requirement of a good control is that it causes motion.</a:t>
            </a:r>
          </a:p>
          <a:p>
            <a:pPr algn="just">
              <a:buNone/>
            </a:pPr>
            <a:r>
              <a:rPr lang="en-US" dirty="0"/>
              <a:t>    Ex: Starting each time at the top of the list of rules and choosing the first applicable one.</a:t>
            </a:r>
          </a:p>
          <a:p>
            <a:pPr algn="just">
              <a:buNone/>
            </a:pPr>
            <a:r>
              <a:rPr lang="en-US" dirty="0"/>
              <a:t>2. The second requirement of a good control strategy is that it be systematic.</a:t>
            </a:r>
          </a:p>
          <a:p>
            <a:pPr algn="just">
              <a:buNone/>
            </a:pPr>
            <a:r>
              <a:rPr lang="en-US" dirty="0"/>
              <a:t>    Ex: On each cycle, choose at random from among the applicable rules.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066800"/>
            <a:ext cx="8305799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133600"/>
            <a:ext cx="3149367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44597" y="1143000"/>
            <a:ext cx="4875023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5337" y="1371600"/>
            <a:ext cx="7815263" cy="3469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524000"/>
            <a:ext cx="4832817" cy="3320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Advantages of DFS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8229600" cy="2895600"/>
          </a:xfrm>
        </p:spPr>
        <p:txBody>
          <a:bodyPr/>
          <a:lstStyle/>
          <a:p>
            <a:pPr algn="just">
              <a:buNone/>
            </a:pPr>
            <a:r>
              <a:rPr lang="en-US" dirty="0"/>
              <a:t>1. DFS requires less memory since only the nodes on the current path are stored.</a:t>
            </a:r>
          </a:p>
          <a:p>
            <a:pPr algn="just">
              <a:buNone/>
            </a:pPr>
            <a:r>
              <a:rPr lang="en-US" dirty="0"/>
              <a:t>2. By chance or otherwise DFS may find a solution  without examining much of the search space at all.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>
            <a:normAutofit/>
          </a:bodyPr>
          <a:lstStyle/>
          <a:p>
            <a:r>
              <a:rPr lang="en-US" sz="4000" dirty="0"/>
              <a:t>Advantages of BFS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3124200"/>
          </a:xfrm>
        </p:spPr>
        <p:txBody>
          <a:bodyPr/>
          <a:lstStyle/>
          <a:p>
            <a:pPr marL="514350" indent="-514350" algn="just">
              <a:buAutoNum type="arabicPeriod"/>
            </a:pPr>
            <a:r>
              <a:rPr lang="en-US" dirty="0"/>
              <a:t>BFS will not get trapped in a blind alley in contrast to DFS.</a:t>
            </a:r>
          </a:p>
          <a:p>
            <a:pPr marL="514350" indent="-514350" algn="just">
              <a:buAutoNum type="arabicPeriod"/>
            </a:pPr>
            <a:r>
              <a:rPr lang="en-US" dirty="0"/>
              <a:t>If there is a solution BFS is guaranteed to find it. Further if there are multiple solutions BFS is guaranteed to find the optimal of them.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Travelling Salesperson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r>
              <a:rPr lang="en-US" dirty="0"/>
              <a:t>A salesman has a list of cities which he must visit exactly once.</a:t>
            </a:r>
          </a:p>
          <a:p>
            <a:r>
              <a:rPr lang="en-US" dirty="0"/>
              <a:t>There are direct routes between each pair of cities.</a:t>
            </a:r>
          </a:p>
          <a:p>
            <a:r>
              <a:rPr lang="en-US" dirty="0"/>
              <a:t>Find the route that should be followed so that the distance covered should be minimal.</a:t>
            </a:r>
          </a:p>
          <a:p>
            <a:r>
              <a:rPr lang="en-US" dirty="0"/>
              <a:t>The number of possible paths are explored between N cities is (N-1)!. </a:t>
            </a:r>
          </a:p>
          <a:p>
            <a:r>
              <a:rPr lang="en-US" dirty="0"/>
              <a:t>This is called combinatorial explosion.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Heuristic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Used for solving difficult problems.</a:t>
            </a:r>
          </a:p>
          <a:p>
            <a:pPr algn="just"/>
            <a:r>
              <a:rPr lang="en-US" dirty="0"/>
              <a:t>Compromise mobility and </a:t>
            </a:r>
            <a:r>
              <a:rPr lang="en-US" dirty="0" err="1"/>
              <a:t>systematicity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Does not always find the best answer but always finds a very good answer.</a:t>
            </a:r>
          </a:p>
          <a:p>
            <a:pPr algn="just"/>
            <a:r>
              <a:rPr lang="en-US" dirty="0"/>
              <a:t>Example: Nearest Neighbor Heuristic for solving TSP.</a:t>
            </a:r>
          </a:p>
          <a:p>
            <a:pPr algn="just"/>
            <a:r>
              <a:rPr lang="en-US" dirty="0"/>
              <a:t>Time complexity: order of N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09800"/>
            <a:ext cx="8229600" cy="2172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Heuristics improves upon the solution to the problem by removing combinatorial explosion.</a:t>
            </a:r>
          </a:p>
          <a:p>
            <a:pPr algn="just"/>
            <a:r>
              <a:rPr lang="en-US" dirty="0"/>
              <a:t>Other advantages are:</a:t>
            </a:r>
          </a:p>
          <a:p>
            <a:pPr algn="just">
              <a:buNone/>
            </a:pPr>
            <a:r>
              <a:rPr lang="en-US" dirty="0"/>
              <a:t>     - Rarely do we need optimal solution. A good approximation usually serves very well.</a:t>
            </a:r>
          </a:p>
          <a:p>
            <a:pPr algn="just">
              <a:buNone/>
            </a:pPr>
            <a:r>
              <a:rPr lang="en-US" dirty="0"/>
              <a:t>     Ex: Parking space.</a:t>
            </a:r>
          </a:p>
          <a:p>
            <a:pPr algn="just">
              <a:buNone/>
            </a:pPr>
            <a:r>
              <a:rPr lang="en-US" dirty="0"/>
              <a:t>     - Heuristics may not produce best results in worst cases but worst cases hardly arise in real world.</a:t>
            </a:r>
          </a:p>
          <a:p>
            <a:pPr algn="just">
              <a:buNone/>
            </a:pPr>
            <a:r>
              <a:rPr lang="en-US" dirty="0"/>
              <a:t>      -Leads to better understanding of the problem.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 function that maps from problem state description to measures of desirability, usually represented as real numbers.</a:t>
            </a:r>
          </a:p>
          <a:p>
            <a:r>
              <a:rPr lang="en-US" dirty="0"/>
              <a:t>Plays an important role in guiding the search process towards a solution.</a:t>
            </a:r>
          </a:p>
          <a:p>
            <a:r>
              <a:rPr lang="en-US" dirty="0"/>
              <a:t>Example: For a TSP the sum of distances </a:t>
            </a:r>
            <a:r>
              <a:rPr lang="en-US"/>
              <a:t>so far.</a:t>
            </a: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3581400"/>
          </a:xfrm>
        </p:spPr>
        <p:txBody>
          <a:bodyPr/>
          <a:lstStyle/>
          <a:p>
            <a:pPr algn="just"/>
            <a:r>
              <a:rPr lang="en-US" dirty="0"/>
              <a:t>Heuristic Search –a very general method applicable to large class of problems.</a:t>
            </a:r>
          </a:p>
          <a:p>
            <a:pPr algn="just"/>
            <a:r>
              <a:rPr lang="en-US" dirty="0"/>
              <a:t>Consists of a wide variety of techniques which are applicable based on problem domain.</a:t>
            </a:r>
          </a:p>
          <a:p>
            <a:pPr algn="just"/>
            <a:r>
              <a:rPr lang="en-US" dirty="0"/>
              <a:t>For this problems are to be analyzed along key dimensions.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Is the Problem decomposable?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713876" y="2052638"/>
            <a:ext cx="4938374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</p:spPr>
        <p:txBody>
          <a:bodyPr>
            <a:normAutofit/>
          </a:bodyPr>
          <a:lstStyle/>
          <a:p>
            <a:r>
              <a:rPr lang="en-US" sz="3200" dirty="0"/>
              <a:t>Blocks World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057400"/>
            <a:ext cx="43434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2057400"/>
            <a:ext cx="344805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600199"/>
            <a:ext cx="5943600" cy="361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Can Solution Steps be ignored or Undone?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sz="2800" dirty="0"/>
              <a:t>Suppose we are trying to prove a mathematical theorem. Every time we make a mistake we can ignore and correct it.</a:t>
            </a:r>
          </a:p>
          <a:p>
            <a:pPr algn="just"/>
            <a:r>
              <a:rPr lang="en-US" sz="2800" dirty="0"/>
              <a:t>Suppose we are trying to solve the 8-puzzle problem. If we make a mistake we can backtrack and solve it.</a:t>
            </a:r>
          </a:p>
          <a:p>
            <a:pPr algn="just"/>
            <a:r>
              <a:rPr lang="en-US" sz="2800" dirty="0"/>
              <a:t>Now consider the game of chess. If a bad move is made it cannot be undone or backtracked.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algn="just"/>
            <a:r>
              <a:rPr lang="en-US" dirty="0"/>
              <a:t>There are thus three class of problems:</a:t>
            </a:r>
          </a:p>
          <a:p>
            <a:pPr algn="just">
              <a:buNone/>
            </a:pPr>
            <a:r>
              <a:rPr lang="en-US" dirty="0"/>
              <a:t>    - Ignorable, in which solution steps can be ignored. It can be solved by a simple control structure that never backtracks.</a:t>
            </a:r>
          </a:p>
          <a:p>
            <a:pPr algn="just">
              <a:buNone/>
            </a:pPr>
            <a:r>
              <a:rPr lang="en-US" dirty="0"/>
              <a:t>    - Recoverable, in which solution steps can be ignored. Backtracking is necessary to recover from errors.</a:t>
            </a:r>
          </a:p>
          <a:p>
            <a:pPr algn="just">
              <a:buNone/>
            </a:pPr>
            <a:r>
              <a:rPr lang="en-US" dirty="0"/>
              <a:t>     - Irrecoverable, in which solution steps cannot be undone. These system take a lot of time for the planning process.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/>
          </a:bodyPr>
          <a:lstStyle/>
          <a:p>
            <a:r>
              <a:rPr lang="en-US" sz="4000" dirty="0"/>
              <a:t>Is the Universe Predictable?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5334000"/>
          </a:xfrm>
        </p:spPr>
        <p:txBody>
          <a:bodyPr/>
          <a:lstStyle/>
          <a:p>
            <a:pPr algn="just"/>
            <a:r>
              <a:rPr lang="en-US" dirty="0"/>
              <a:t>For a 8-puzzle game it is possible to plan an entire sequence of moves (certain outcome problems).</a:t>
            </a:r>
          </a:p>
          <a:p>
            <a:pPr algn="just"/>
            <a:r>
              <a:rPr lang="en-US" dirty="0"/>
              <a:t>For a game of chess it is not possible with certainty to plan the sequence of moves since moves of other players are not known in advance (uncertain outcome problems).</a:t>
            </a:r>
          </a:p>
          <a:p>
            <a:pPr algn="just"/>
            <a:r>
              <a:rPr lang="en-US" dirty="0"/>
              <a:t>Helping a lawyer decide how to protect his client against murder charge is an example of irrecoverable uncertain outcome problems.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/>
              <a:t>Is a good solution absolute or relative?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2971800" cy="4830763"/>
          </a:xfrm>
        </p:spPr>
        <p:txBody>
          <a:bodyPr/>
          <a:lstStyle/>
          <a:p>
            <a:pPr algn="just"/>
            <a:r>
              <a:rPr lang="en-US" dirty="0"/>
              <a:t>Consider the simple facts shown on the right.</a:t>
            </a:r>
          </a:p>
          <a:p>
            <a:pPr algn="just"/>
            <a:r>
              <a:rPr lang="en-US" dirty="0"/>
              <a:t>Question is asked “Is Marcus alive?”</a:t>
            </a:r>
          </a:p>
          <a:p>
            <a:pPr algn="just"/>
            <a:r>
              <a:rPr lang="en-US" dirty="0"/>
              <a:t>Several ways of deciding that Marcus is dead.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0" y="1905000"/>
            <a:ext cx="5029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are…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362200"/>
            <a:ext cx="4038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953000" y="2667000"/>
            <a:ext cx="40386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229600" cy="3124200"/>
          </a:xfrm>
        </p:spPr>
        <p:txBody>
          <a:bodyPr/>
          <a:lstStyle/>
          <a:p>
            <a:pPr algn="just"/>
            <a:r>
              <a:rPr lang="en-US" dirty="0"/>
              <a:t>But in case of TSP the shortest route is the only solution to the problem.</a:t>
            </a:r>
          </a:p>
          <a:p>
            <a:pPr algn="just"/>
            <a:r>
              <a:rPr lang="en-US" dirty="0"/>
              <a:t>Thus reasoning problem is an example of any path problem whereas TSP is an example of best path problem.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dirty="0"/>
              <a:t>What is the role of knowledge?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43400"/>
          </a:xfrm>
        </p:spPr>
        <p:txBody>
          <a:bodyPr/>
          <a:lstStyle/>
          <a:p>
            <a:pPr algn="just"/>
            <a:r>
              <a:rPr lang="en-US" dirty="0"/>
              <a:t>For playing chess a limited amount of knowledge is required for determining the legal moves and implementing simple control mechanisms.</a:t>
            </a:r>
          </a:p>
          <a:p>
            <a:pPr algn="just"/>
            <a:r>
              <a:rPr lang="en-US" dirty="0"/>
              <a:t>But for determining which newspapers support which candidates in the elections a lot of knowledge is required even for recognizing the solution.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>
            <a:noAutofit/>
          </a:bodyPr>
          <a:lstStyle/>
          <a:p>
            <a:r>
              <a:rPr lang="en-US" sz="3600" dirty="0"/>
              <a:t>Does the task require interaction with a person?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458200" cy="46482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3500" dirty="0"/>
              <a:t>Consider the problem of proving mathematical theorems. If</a:t>
            </a:r>
          </a:p>
          <a:p>
            <a:pPr algn="just">
              <a:buNone/>
            </a:pPr>
            <a:r>
              <a:rPr lang="en-US" sz="3500" dirty="0"/>
              <a:t>    1. All we want to know that there is a proof.</a:t>
            </a:r>
          </a:p>
          <a:p>
            <a:pPr algn="just">
              <a:buNone/>
            </a:pPr>
            <a:r>
              <a:rPr lang="en-US" sz="3500" dirty="0"/>
              <a:t>    2. The program is capable of finding a proof by itself.</a:t>
            </a:r>
          </a:p>
          <a:p>
            <a:pPr algn="just">
              <a:buNone/>
            </a:pPr>
            <a:r>
              <a:rPr lang="en-US" sz="3500" dirty="0"/>
              <a:t>    then it does not matter what strategy the program takes to find the proof. </a:t>
            </a:r>
          </a:p>
          <a:p>
            <a:pPr algn="just"/>
            <a:r>
              <a:rPr lang="en-US" sz="3500" dirty="0"/>
              <a:t>Alternatively finding the proof may be sufficiently difficult so that the program does not know where to start from.</a:t>
            </a:r>
          </a:p>
          <a:p>
            <a:pPr>
              <a:buNone/>
            </a:pP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200" dirty="0"/>
              <a:t>There are thus two classes of problems: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1"/>
            <a:ext cx="8229600" cy="4038600"/>
          </a:xfrm>
        </p:spPr>
        <p:txBody>
          <a:bodyPr/>
          <a:lstStyle/>
          <a:p>
            <a:pPr algn="just"/>
            <a:r>
              <a:rPr lang="en-US" dirty="0"/>
              <a:t>Solitary, in which the computer is given a problem description and produces an answer with no intermediate communication.</a:t>
            </a:r>
          </a:p>
          <a:p>
            <a:pPr algn="just"/>
            <a:r>
              <a:rPr lang="en-US" dirty="0"/>
              <a:t>Conversational, in which there is an intermediate communication between a person and a computer for providing additional assistance.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Issues in the design of search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/>
          <a:lstStyle/>
          <a:p>
            <a:pPr algn="just"/>
            <a:r>
              <a:rPr lang="en-US" dirty="0"/>
              <a:t>Direction of search: forward vs. backward reasoning (Initial to goal state or vice versa). </a:t>
            </a:r>
          </a:p>
          <a:p>
            <a:pPr algn="just"/>
            <a:r>
              <a:rPr lang="en-US" dirty="0"/>
              <a:t>How to select appropriate matching rules (Importance of search procedure).</a:t>
            </a:r>
          </a:p>
          <a:p>
            <a:pPr algn="just"/>
            <a:r>
              <a:rPr lang="en-US" dirty="0"/>
              <a:t>How to represent each node in the search process (Knowledge representation problem and the frame problem).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76400"/>
            <a:ext cx="82296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00"/>
            <a:ext cx="4038600" cy="281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4241800" y="3180113"/>
            <a:ext cx="3298825" cy="1951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443</TotalTime>
  <Words>1420</Words>
  <Application>Microsoft Office PowerPoint</Application>
  <PresentationFormat>On-screen Show (4:3)</PresentationFormat>
  <Paragraphs>116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Century Gothic</vt:lpstr>
      <vt:lpstr>Wingdings 3</vt:lpstr>
      <vt:lpstr>Ion</vt:lpstr>
      <vt:lpstr>Problems, Problem Spaces, and Search</vt:lpstr>
      <vt:lpstr>To Solve a problem….</vt:lpstr>
      <vt:lpstr>Defining the problem as State Space Search</vt:lpstr>
      <vt:lpstr>A Legal Move</vt:lpstr>
      <vt:lpstr>Legal Move…</vt:lpstr>
      <vt:lpstr>Problem of “Play Chess” is thus defined as…. </vt:lpstr>
      <vt:lpstr>Water Jug Problem</vt:lpstr>
      <vt:lpstr>PowerPoint Presentation</vt:lpstr>
      <vt:lpstr>PowerPoint Presentation</vt:lpstr>
      <vt:lpstr>PowerPoint Presentation</vt:lpstr>
      <vt:lpstr>In order to provide a formal description of the problem:</vt:lpstr>
      <vt:lpstr>Production Systems</vt:lpstr>
      <vt:lpstr>Control Strategies</vt:lpstr>
      <vt:lpstr>PowerPoint Presentation</vt:lpstr>
      <vt:lpstr>PowerPoint Presentation</vt:lpstr>
      <vt:lpstr>PowerPoint Presentation</vt:lpstr>
      <vt:lpstr>PowerPoint Presentation</vt:lpstr>
      <vt:lpstr>Advantages of DFS</vt:lpstr>
      <vt:lpstr>Advantages of BFS</vt:lpstr>
      <vt:lpstr>The Travelling Salesperson Problem</vt:lpstr>
      <vt:lpstr>Heuristic Search</vt:lpstr>
      <vt:lpstr>PowerPoint Presentation</vt:lpstr>
      <vt:lpstr>PowerPoint Presentation</vt:lpstr>
      <vt:lpstr>Heuristic Function</vt:lpstr>
      <vt:lpstr>Problem Characteristics</vt:lpstr>
      <vt:lpstr>Is the Problem decomposable?</vt:lpstr>
      <vt:lpstr>Blocks World</vt:lpstr>
      <vt:lpstr>PowerPoint Presentation</vt:lpstr>
      <vt:lpstr>Can Solution Steps be ignored or Undone?</vt:lpstr>
      <vt:lpstr>PowerPoint Presentation</vt:lpstr>
      <vt:lpstr>Is the Universe Predictable?</vt:lpstr>
      <vt:lpstr>Is a good solution absolute or relative?</vt:lpstr>
      <vt:lpstr>Two ways are…</vt:lpstr>
      <vt:lpstr>PowerPoint Presentation</vt:lpstr>
      <vt:lpstr>What is the role of knowledge?</vt:lpstr>
      <vt:lpstr>Does the task require interaction with a person? </vt:lpstr>
      <vt:lpstr>There are thus two classes of problems:</vt:lpstr>
      <vt:lpstr>Issues in the design of search program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Problems, Problem Spaces, and Search</dc:title>
  <dc:creator>anal</dc:creator>
  <cp:lastModifiedBy>Anushka</cp:lastModifiedBy>
  <cp:revision>62</cp:revision>
  <dcterms:created xsi:type="dcterms:W3CDTF">2006-08-16T00:00:00Z</dcterms:created>
  <dcterms:modified xsi:type="dcterms:W3CDTF">2021-04-06T07:06:59Z</dcterms:modified>
</cp:coreProperties>
</file>