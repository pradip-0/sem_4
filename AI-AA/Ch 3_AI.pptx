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C329E-25AC-4972-87B3-33ED3ADA8CDB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C2AB7-29A7-49EE-98E8-B3D986FA5BA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A124D-8100-4484-B73B-82DAD03E7554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113DF2-F406-46F0-BFAD-03FB3E66476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6601-0A9F-4A99-A75D-BBCEC6D957BB}" type="datetime1">
              <a:rPr lang="en-US" smtClean="0"/>
              <a:pPr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5EDBA-539C-4449-A8D7-5DD53502F4E7}" type="datetime1">
              <a:rPr lang="en-US" smtClean="0"/>
              <a:pPr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9382-CA41-4AD8-AF66-6D48196B720F}" type="datetime1">
              <a:rPr lang="en-US" smtClean="0"/>
              <a:pPr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71157-FBFC-4FF4-8A9F-079E838F8B5B}" type="datetime1">
              <a:rPr lang="en-US" smtClean="0"/>
              <a:pPr/>
              <a:t>4/14/2021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A15CF-F9C9-49C2-A54B-FC5410535897}" type="datetime1">
              <a:rPr lang="en-US" smtClean="0"/>
              <a:pPr/>
              <a:t>4/14/2021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132E-EA4A-4078-AE22-C0CEFABC2465}" type="datetime1">
              <a:rPr lang="en-US" smtClean="0"/>
              <a:pPr/>
              <a:t>4/14/2021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6E0A8-B6A3-45B4-9C5F-AB12C693F105}" type="datetime1">
              <a:rPr lang="en-US" smtClean="0"/>
              <a:pPr/>
              <a:t>4/14/2021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58AF3-8EA7-4A2E-A45B-6E4DDCABC983}" type="datetime1">
              <a:rPr lang="en-US" smtClean="0"/>
              <a:pPr/>
              <a:t>4/14/2021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6BF0-123D-4ED7-9D67-A04FA8F19BAB}" type="datetime1">
              <a:rPr lang="en-US" smtClean="0"/>
              <a:pPr/>
              <a:t>4/14/2021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0549-76CE-46F2-A645-8BCD25178AC3}" type="datetime1">
              <a:rPr lang="en-US" smtClean="0"/>
              <a:pPr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73FA6-1FD5-4BF0-BDA6-1A1B63E39125}" type="datetime1">
              <a:rPr lang="en-US" smtClean="0"/>
              <a:pPr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39023-C800-4A9F-99D3-210BDFA42791}" type="datetime1">
              <a:rPr lang="en-US" smtClean="0"/>
              <a:pPr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 rot="20112182">
            <a:off x="173423" y="2967335"/>
            <a:ext cx="87971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/>
            </a:scene3d>
            <a:sp3d contourW="19050" prstMaterial="clear">
              <a:bevelT w="50800" h="50800"/>
              <a:contourClr>
                <a:schemeClr val="accent5">
                  <a:tint val="70000"/>
                  <a:satMod val="180000"/>
                  <a:alpha val="70000"/>
                </a:schemeClr>
              </a:contourClr>
            </a:sp3d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b="1" cap="none" spc="0" dirty="0" smtClean="0">
                <a:ln/>
                <a:solidFill>
                  <a:schemeClr val="accent5">
                    <a:tint val="50000"/>
                    <a:satMod val="180000"/>
                  </a:schemeClr>
                </a:solidFill>
                <a:effectLst/>
              </a:rPr>
              <a:t>Dr.</a:t>
            </a:r>
            <a:r>
              <a:rPr lang="en-US" sz="5400" b="1" cap="none" spc="0" baseline="0" dirty="0" smtClean="0">
                <a:ln/>
                <a:solidFill>
                  <a:schemeClr val="accent5">
                    <a:tint val="50000"/>
                    <a:satMod val="180000"/>
                  </a:schemeClr>
                </a:solidFill>
                <a:effectLst/>
              </a:rPr>
              <a:t> Anal </a:t>
            </a:r>
            <a:r>
              <a:rPr lang="en-US" sz="5400" b="1" cap="none" spc="0" baseline="0" dirty="0" err="1" smtClean="0">
                <a:ln/>
                <a:solidFill>
                  <a:schemeClr val="accent5">
                    <a:tint val="50000"/>
                    <a:satMod val="180000"/>
                  </a:schemeClr>
                </a:solidFill>
                <a:effectLst/>
              </a:rPr>
              <a:t>Acharya</a:t>
            </a:r>
            <a:r>
              <a:rPr lang="en-US" sz="5400" b="1" cap="none" spc="0" baseline="0" dirty="0" smtClean="0">
                <a:ln/>
                <a:solidFill>
                  <a:schemeClr val="accent5">
                    <a:tint val="50000"/>
                    <a:satMod val="180000"/>
                  </a:schemeClr>
                </a:solidFill>
                <a:effectLst/>
              </a:rPr>
              <a:t>, SXC, Kolkata</a:t>
            </a:r>
            <a:endParaRPr lang="en-US" sz="5400" b="1" cap="none" spc="0" dirty="0">
              <a:ln/>
              <a:solidFill>
                <a:schemeClr val="accent5">
                  <a:tint val="50000"/>
                  <a:satMod val="180000"/>
                </a:schemeClr>
              </a:solidFill>
              <a:effectLst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47850"/>
          </a:xfrm>
        </p:spPr>
        <p:txBody>
          <a:bodyPr/>
          <a:lstStyle/>
          <a:p>
            <a:r>
              <a:rPr lang="en-US" dirty="0" smtClean="0"/>
              <a:t>Heuristic Search Techniques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Heuristic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Are a set of general purpose search techniques. </a:t>
            </a:r>
          </a:p>
          <a:p>
            <a:pPr algn="just"/>
            <a:r>
              <a:rPr lang="en-US" dirty="0" smtClean="0"/>
              <a:t>Can be described independently of any problem domain.</a:t>
            </a:r>
          </a:p>
          <a:p>
            <a:pPr algn="just"/>
            <a:r>
              <a:rPr lang="en-US" dirty="0" smtClean="0"/>
              <a:t>Their efficacy is highly dependent on the applied problem domain since they are unable to overcome combinatorial explosion.</a:t>
            </a:r>
          </a:p>
          <a:p>
            <a:r>
              <a:rPr lang="en-US" dirty="0" smtClean="0"/>
              <a:t>Two methods already discussed (DFS and BFS).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Generate and Test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sz="2800" dirty="0" smtClean="0"/>
              <a:t>Algorithm: Generate and Test</a:t>
            </a:r>
          </a:p>
          <a:p>
            <a:pPr marL="514350" indent="-514350" algn="just">
              <a:buAutoNum type="arabicPeriod"/>
            </a:pPr>
            <a:r>
              <a:rPr lang="en-US" sz="2800" dirty="0" smtClean="0"/>
              <a:t>Generate a possible solution. For some problems, this means generating a particular point on problem space. For others, it means generating a path from start state.</a:t>
            </a:r>
          </a:p>
          <a:p>
            <a:pPr marL="514350" indent="-514350" algn="just">
              <a:buAutoNum type="arabicPeriod"/>
            </a:pPr>
            <a:r>
              <a:rPr lang="en-US" sz="2800" dirty="0" smtClean="0">
                <a:solidFill>
                  <a:srgbClr val="FF0000"/>
                </a:solidFill>
              </a:rPr>
              <a:t>Test</a:t>
            </a:r>
            <a:r>
              <a:rPr lang="en-US" sz="2800" dirty="0" smtClean="0"/>
              <a:t> to see if it is actually a solution by comparing the chosen point or end point of chosen path to the set of acceptable states.</a:t>
            </a:r>
          </a:p>
          <a:p>
            <a:pPr marL="514350" indent="-514350" algn="just">
              <a:buAutoNum type="arabicPeriod"/>
            </a:pPr>
            <a:r>
              <a:rPr lang="en-US" sz="2800" dirty="0" smtClean="0"/>
              <a:t>If solution has been found quit. Otherwise return to step 1.</a:t>
            </a:r>
          </a:p>
          <a:p>
            <a:pPr marL="514350" indent="-514350"/>
            <a:r>
              <a:rPr lang="en-US" sz="2800" dirty="0" smtClean="0"/>
              <a:t>Is a DFS procedure.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Example: Colored Blocks Problem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Four six sided cubes each side of the cube painted one of the four colors.</a:t>
            </a:r>
          </a:p>
          <a:p>
            <a:pPr algn="just"/>
            <a:r>
              <a:rPr lang="en-US" dirty="0" smtClean="0"/>
              <a:t>Task: arrangement of the cubes in a row such that on all four sides of the row one block face of each color is showing. </a:t>
            </a:r>
          </a:p>
          <a:p>
            <a:pPr algn="just"/>
            <a:r>
              <a:rPr lang="en-US" dirty="0" smtClean="0"/>
              <a:t>Solution: There are more, say, red faces than there are any colors. While placing a block with red faces use as few of them as outside faces.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Hill climbing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pure generate and test procedure, the test function responds only with yes </a:t>
            </a:r>
            <a:r>
              <a:rPr lang="en-US" smtClean="0"/>
              <a:t>or no.</a:t>
            </a:r>
            <a:endParaRPr lang="en-US" dirty="0" smtClean="0"/>
          </a:p>
          <a:p>
            <a:r>
              <a:rPr lang="en-US" dirty="0" smtClean="0"/>
              <a:t>Hill climbing is a variant of generate and test in which the feedback from the test procedure decides the direction of search process.</a:t>
            </a:r>
          </a:p>
          <a:p>
            <a:r>
              <a:rPr lang="en-US" dirty="0" smtClean="0"/>
              <a:t>Test function is augmented with a heuristic function to provide an estimate of how close a given state is to the goal state.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Hill Climbing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1676400"/>
            <a:ext cx="8514826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Colored Blocks Problem Revisited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Heuristic function: Sum of the number of different colors on each of four sides ( value 16 in this case).</a:t>
            </a:r>
          </a:p>
          <a:p>
            <a:pPr algn="just"/>
            <a:r>
              <a:rPr lang="en-US" dirty="0" smtClean="0"/>
              <a:t>Rule: Pick up a block and rotate it 90 degree in any direction.</a:t>
            </a:r>
          </a:p>
          <a:p>
            <a:pPr algn="just"/>
            <a:r>
              <a:rPr lang="en-US" dirty="0" smtClean="0"/>
              <a:t>Application of hill climbing: Generate a new state by selecting a block and rotating it. If the resulting state is better, keep it. If not return to the previous state an try a different combination.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Best First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DFS is good because it allows solution to be found without all competing branches having to be expanded.</a:t>
            </a:r>
          </a:p>
          <a:p>
            <a:pPr algn="just"/>
            <a:r>
              <a:rPr lang="en-US" dirty="0" smtClean="0"/>
              <a:t>BFS is good because it does not get trapped in dead end paths.</a:t>
            </a:r>
          </a:p>
          <a:p>
            <a:pPr algn="just"/>
            <a:r>
              <a:rPr lang="en-US" dirty="0" smtClean="0"/>
              <a:t>BFS combines the effectiveness of both by following a single path at a time but switching paths when some competing path looks more promising than the current one.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4000" dirty="0" smtClean="0"/>
              <a:t>How does it work?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At each step of the search process the most promising node is selected by applying an appropriate heuristic.</a:t>
            </a:r>
          </a:p>
          <a:p>
            <a:pPr algn="just"/>
            <a:r>
              <a:rPr lang="en-US" dirty="0" smtClean="0"/>
              <a:t>The node is then expanded using appropriate set of rules.</a:t>
            </a:r>
          </a:p>
          <a:p>
            <a:pPr algn="just"/>
            <a:r>
              <a:rPr lang="en-US" dirty="0" smtClean="0"/>
              <a:t>If it is the solution then the search process stops.</a:t>
            </a:r>
          </a:p>
          <a:p>
            <a:pPr algn="just"/>
            <a:r>
              <a:rPr lang="en-US" dirty="0" smtClean="0"/>
              <a:t>Otherwise all the new nodes are added to the set of nodes generated so far.</a:t>
            </a:r>
          </a:p>
          <a:p>
            <a:pPr algn="just"/>
            <a:r>
              <a:rPr lang="en-US" dirty="0" smtClean="0"/>
              <a:t>Again the most promising node is selected and the process continues.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295400"/>
            <a:ext cx="6180020" cy="5279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algn="just"/>
            <a:r>
              <a:rPr lang="en-US" sz="3000" dirty="0" smtClean="0"/>
              <a:t>The heuristic function is an estimate of the cost of getting to the solution from a given node.</a:t>
            </a:r>
          </a:p>
          <a:p>
            <a:pPr algn="just"/>
            <a:r>
              <a:rPr lang="en-US" sz="3000" dirty="0" smtClean="0"/>
              <a:t>BFS is applied on a directed graph in which each node represents a point in problem space. Each node contains a description of the problem state, an indication how promising it is, list of nodes generated from it and the parent link.  </a:t>
            </a:r>
          </a:p>
          <a:p>
            <a:pPr algn="just"/>
            <a:r>
              <a:rPr lang="en-US" sz="3000" dirty="0" smtClean="0"/>
              <a:t>Such a graph is called an OR graph, since each branch represents an alternate problem solving path.</a:t>
            </a: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Two list of nodes are required....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229600" cy="4038600"/>
          </a:xfrm>
        </p:spPr>
        <p:txBody>
          <a:bodyPr/>
          <a:lstStyle/>
          <a:p>
            <a:r>
              <a:rPr lang="en-US" dirty="0" smtClean="0"/>
              <a:t>OPEN: nodes that have been generated and have had the heuristic function applied on them but have not yet been examined(i.e. their successors generated). </a:t>
            </a:r>
          </a:p>
          <a:p>
            <a:r>
              <a:rPr lang="en-US" dirty="0" smtClean="0"/>
              <a:t>CLOSED: nodes that have been examined.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3600" dirty="0" smtClean="0"/>
              <a:t>Heuristic Function….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267200"/>
          </a:xfrm>
        </p:spPr>
        <p:txBody>
          <a:bodyPr/>
          <a:lstStyle/>
          <a:p>
            <a:pPr algn="just"/>
            <a:r>
              <a:rPr lang="en-US" dirty="0" smtClean="0"/>
              <a:t>Estimates the merit of each node generated.</a:t>
            </a:r>
          </a:p>
          <a:p>
            <a:pPr algn="just"/>
            <a:r>
              <a:rPr lang="en-US" dirty="0" smtClean="0"/>
              <a:t>Indicated as f1.</a:t>
            </a:r>
          </a:p>
          <a:p>
            <a:pPr algn="just"/>
            <a:r>
              <a:rPr lang="en-US" dirty="0" smtClean="0"/>
              <a:t>Defined as the sum of two functions g and h1.</a:t>
            </a:r>
          </a:p>
          <a:p>
            <a:pPr algn="just"/>
            <a:r>
              <a:rPr lang="en-US" dirty="0" smtClean="0"/>
              <a:t>g is a measure of the cost of getting from initial state to current state.</a:t>
            </a:r>
          </a:p>
          <a:p>
            <a:pPr algn="just"/>
            <a:r>
              <a:rPr lang="en-US" dirty="0" smtClean="0"/>
              <a:t>H1 is the estimate of the cost of getting from the current node to the goal state. 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28637" y="1219200"/>
            <a:ext cx="8086725" cy="3772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Constraint Satisfaction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Goal is to discover some problem state that satisfies a given set of constraints.</a:t>
            </a:r>
          </a:p>
          <a:p>
            <a:r>
              <a:rPr lang="en-US" sz="3000" dirty="0" smtClean="0"/>
              <a:t>Ex: </a:t>
            </a:r>
            <a:r>
              <a:rPr lang="en-US" sz="3000" dirty="0" err="1" smtClean="0"/>
              <a:t>Cryptarithmetic</a:t>
            </a:r>
            <a:r>
              <a:rPr lang="en-US" sz="3000" dirty="0" smtClean="0"/>
              <a:t> puzzles.</a:t>
            </a:r>
          </a:p>
          <a:p>
            <a:r>
              <a:rPr lang="en-US" sz="3000" dirty="0" smtClean="0"/>
              <a:t>Is a search procedure that operates in a space of constraint sets.</a:t>
            </a:r>
          </a:p>
          <a:p>
            <a:r>
              <a:rPr lang="en-US" sz="3000" dirty="0" smtClean="0"/>
              <a:t>Initial state: problem description.</a:t>
            </a:r>
          </a:p>
          <a:p>
            <a:r>
              <a:rPr lang="en-US" sz="3000" dirty="0" smtClean="0"/>
              <a:t>Goal state: problem solved following constraints.</a:t>
            </a:r>
          </a:p>
          <a:p>
            <a:r>
              <a:rPr lang="en-US" sz="3000" dirty="0" smtClean="0"/>
              <a:t>Two step process.</a:t>
            </a: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pPr algn="just"/>
            <a:r>
              <a:rPr lang="en-US" dirty="0" smtClean="0"/>
              <a:t>First, constraints are discovered and propagated as far as possible throughout the system.</a:t>
            </a:r>
          </a:p>
          <a:p>
            <a:pPr algn="just"/>
            <a:r>
              <a:rPr lang="en-US" dirty="0" smtClean="0"/>
              <a:t>Second, if the solution is not yet found a guess is made and added as a new constraint.</a:t>
            </a:r>
          </a:p>
          <a:p>
            <a:pPr algn="just"/>
            <a:r>
              <a:rPr lang="en-US" dirty="0" smtClean="0"/>
              <a:t>Constraint propagation terminates for one of the two reasons. First, a contradiction is detected. Second, propagation has run out of steam and no further changes can be made on the basis of current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371600"/>
            <a:ext cx="6258302" cy="380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7687" y="1447800"/>
            <a:ext cx="8048625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1524000"/>
            <a:ext cx="7829550" cy="3505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99975" y="381001"/>
            <a:ext cx="4521106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Means End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Previous algorithms used either forward or backward reasoning.</a:t>
            </a:r>
          </a:p>
          <a:p>
            <a:r>
              <a:rPr lang="en-US" dirty="0" smtClean="0"/>
              <a:t>MEA uses a mixture of these two techniques.</a:t>
            </a:r>
          </a:p>
          <a:p>
            <a:r>
              <a:rPr lang="en-US" dirty="0" smtClean="0"/>
              <a:t>Major parts of the problem are solved first and then these parts appended to get the solution.</a:t>
            </a:r>
          </a:p>
          <a:p>
            <a:r>
              <a:rPr lang="en-US" dirty="0" smtClean="0"/>
              <a:t>Difference between current state and goal state is to be detected.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943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Operator to be applied to reduce this difference.</a:t>
            </a:r>
          </a:p>
          <a:p>
            <a:pPr algn="just"/>
            <a:r>
              <a:rPr lang="en-US" dirty="0" smtClean="0"/>
              <a:t>But this operator may not be applicable to the current state. </a:t>
            </a:r>
          </a:p>
          <a:p>
            <a:pPr algn="just"/>
            <a:r>
              <a:rPr lang="en-US" dirty="0" smtClean="0"/>
              <a:t>This kind of backward chaining in which operators are selected and then sub goals are set up to establish the preconditions of the operators are called operator sub </a:t>
            </a:r>
            <a:r>
              <a:rPr lang="en-US" dirty="0" err="1" smtClean="0"/>
              <a:t>goaling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If the operator does not produce the goal state we want then the same process is applicable.</a:t>
            </a:r>
          </a:p>
          <a:p>
            <a:pPr algn="just"/>
            <a:r>
              <a:rPr lang="en-US" dirty="0" smtClean="0"/>
              <a:t>Thus the process can be applied recursively.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295400"/>
            <a:ext cx="6553200" cy="4044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1447800"/>
            <a:ext cx="7214012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r>
              <a:rPr lang="en-US" dirty="0" smtClean="0"/>
              <a:t>Ex: Moving a desk with two things on it.</a:t>
            </a:r>
          </a:p>
          <a:p>
            <a:r>
              <a:rPr lang="en-US" dirty="0" smtClean="0"/>
              <a:t>Push or Carry operators may be used.</a:t>
            </a:r>
          </a:p>
          <a:p>
            <a:r>
              <a:rPr lang="en-US" dirty="0" smtClean="0"/>
              <a:t>Preconditions not satisfied for carry(as object is not small).</a:t>
            </a:r>
          </a:p>
          <a:p>
            <a:r>
              <a:rPr lang="en-US" dirty="0" smtClean="0"/>
              <a:t>Preconditions for push satisfied.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Ex: Moving a desk with two things on it.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Push or Carry operators may be used.</a:t>
            </a:r>
          </a:p>
          <a:p>
            <a:pPr algn="just"/>
            <a:r>
              <a:rPr lang="en-US" dirty="0" smtClean="0"/>
              <a:t>Preconditions not satisfied for carry(as object is not small).</a:t>
            </a:r>
          </a:p>
          <a:p>
            <a:pPr algn="just"/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and 4</a:t>
            </a:r>
            <a:r>
              <a:rPr lang="en-US" baseline="30000" dirty="0" smtClean="0"/>
              <a:t>th</a:t>
            </a:r>
            <a:r>
              <a:rPr lang="en-US" dirty="0" smtClean="0"/>
              <a:t>  preconditions for push satisfied.</a:t>
            </a:r>
          </a:p>
          <a:p>
            <a:pPr algn="just"/>
            <a:r>
              <a:rPr lang="en-US" dirty="0" smtClean="0"/>
              <a:t>For 3</a:t>
            </a:r>
            <a:r>
              <a:rPr lang="en-US" baseline="30000" dirty="0" smtClean="0"/>
              <a:t>rd</a:t>
            </a:r>
            <a:r>
              <a:rPr lang="en-US" dirty="0" smtClean="0"/>
              <a:t> and 4</a:t>
            </a:r>
            <a:r>
              <a:rPr lang="en-US" baseline="30000" dirty="0" smtClean="0"/>
              <a:t>th</a:t>
            </a:r>
            <a:r>
              <a:rPr lang="en-US" dirty="0" smtClean="0"/>
              <a:t> preconditions to be satisfied  pickup and putdown operators are required.</a:t>
            </a:r>
          </a:p>
          <a:p>
            <a:pPr algn="just"/>
            <a:endParaRPr lang="en-US" dirty="0" smtClean="0"/>
          </a:p>
          <a:p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90868" y="2743200"/>
            <a:ext cx="3814763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0600" y="2590800"/>
            <a:ext cx="6797431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685800"/>
            <a:ext cx="8319824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1060</Words>
  <Application>Microsoft Office PowerPoint</Application>
  <PresentationFormat>On-screen Show (4:3)</PresentationFormat>
  <Paragraphs>104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Heuristic Search Techniques</vt:lpstr>
      <vt:lpstr>Heuristic Search</vt:lpstr>
      <vt:lpstr>Generate and Test</vt:lpstr>
      <vt:lpstr>Example: Colored Blocks Problem</vt:lpstr>
      <vt:lpstr>Hill climbing</vt:lpstr>
      <vt:lpstr>Simple Hill Climbing</vt:lpstr>
      <vt:lpstr>Colored Blocks Problem Revisited</vt:lpstr>
      <vt:lpstr>Best First Search</vt:lpstr>
      <vt:lpstr>How does it work?</vt:lpstr>
      <vt:lpstr>Example</vt:lpstr>
      <vt:lpstr>Slide 11</vt:lpstr>
      <vt:lpstr>Two list of nodes are required....</vt:lpstr>
      <vt:lpstr>Heuristic Function….</vt:lpstr>
      <vt:lpstr>Slide 14</vt:lpstr>
      <vt:lpstr>Constraint Satisfaction</vt:lpstr>
      <vt:lpstr>Slide 16</vt:lpstr>
      <vt:lpstr>Slide 17</vt:lpstr>
      <vt:lpstr>Slide 18</vt:lpstr>
      <vt:lpstr>Slide 19</vt:lpstr>
      <vt:lpstr>Slide 20</vt:lpstr>
      <vt:lpstr>Means End Analysis</vt:lpstr>
      <vt:lpstr>Slide 22</vt:lpstr>
      <vt:lpstr>Slide 23</vt:lpstr>
      <vt:lpstr>Slide 24</vt:lpstr>
      <vt:lpstr>Slide 25</vt:lpstr>
      <vt:lpstr>Ex: Moving a desk with two things on it.</vt:lpstr>
      <vt:lpstr>Slide 27</vt:lpstr>
      <vt:lpstr>Slide 28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Heuristic Search Techniques</dc:title>
  <dc:creator/>
  <cp:lastModifiedBy>Windows User</cp:lastModifiedBy>
  <cp:revision>60</cp:revision>
  <dcterms:created xsi:type="dcterms:W3CDTF">2006-08-16T00:00:00Z</dcterms:created>
  <dcterms:modified xsi:type="dcterms:W3CDTF">2021-04-14T14:03:27Z</dcterms:modified>
</cp:coreProperties>
</file>